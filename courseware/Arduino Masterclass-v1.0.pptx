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9" r:id="rId10"/>
    <p:sldId id="260" r:id="rId11"/>
    <p:sldId id="261" r:id="rId12"/>
    <p:sldId id="262" r:id="rId13"/>
    <p:sldId id="266" r:id="rId17"/>
    <p:sldId id="267" r:id="rId18"/>
    <p:sldId id="268" r:id="rId19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9" r:id="rId120"/>
    <p:sldId id="371" r:id="rId122"/>
    <p:sldId id="372" r:id="rId1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Relationship Id="rId67" Type="http://schemas.openxmlformats.org/officeDocument/2006/relationships/slide" Target="slides/slide53.xml"/><Relationship Id="rId68" Type="http://schemas.openxmlformats.org/officeDocument/2006/relationships/slide" Target="slides/slide54.xml"/><Relationship Id="rId69" Type="http://schemas.openxmlformats.org/officeDocument/2006/relationships/slide" Target="slides/slide55.xml"/><Relationship Id="rId70" Type="http://schemas.openxmlformats.org/officeDocument/2006/relationships/slide" Target="slides/slide56.xml"/><Relationship Id="rId71" Type="http://schemas.openxmlformats.org/officeDocument/2006/relationships/slide" Target="slides/slide57.xml"/><Relationship Id="rId72" Type="http://schemas.openxmlformats.org/officeDocument/2006/relationships/slide" Target="slides/slide58.xml"/><Relationship Id="rId73" Type="http://schemas.openxmlformats.org/officeDocument/2006/relationships/slide" Target="slides/slide59.xml"/><Relationship Id="rId74" Type="http://schemas.openxmlformats.org/officeDocument/2006/relationships/slide" Target="slides/slide60.xml"/><Relationship Id="rId75" Type="http://schemas.openxmlformats.org/officeDocument/2006/relationships/slide" Target="slides/slide61.xml"/><Relationship Id="rId76" Type="http://schemas.openxmlformats.org/officeDocument/2006/relationships/slide" Target="slides/slide62.xml"/><Relationship Id="rId77" Type="http://schemas.openxmlformats.org/officeDocument/2006/relationships/slide" Target="slides/slide63.xml"/><Relationship Id="rId78" Type="http://schemas.openxmlformats.org/officeDocument/2006/relationships/slide" Target="slides/slide64.xml"/><Relationship Id="rId79" Type="http://schemas.openxmlformats.org/officeDocument/2006/relationships/slide" Target="slides/slide65.xml"/><Relationship Id="rId80" Type="http://schemas.openxmlformats.org/officeDocument/2006/relationships/slide" Target="slides/slide66.xml"/><Relationship Id="rId81" Type="http://schemas.openxmlformats.org/officeDocument/2006/relationships/slide" Target="slides/slide67.xml"/><Relationship Id="rId82" Type="http://schemas.openxmlformats.org/officeDocument/2006/relationships/slide" Target="slides/slide68.xml"/><Relationship Id="rId83" Type="http://schemas.openxmlformats.org/officeDocument/2006/relationships/slide" Target="slides/slide69.xml"/><Relationship Id="rId84" Type="http://schemas.openxmlformats.org/officeDocument/2006/relationships/slide" Target="slides/slide70.xml"/><Relationship Id="rId85" Type="http://schemas.openxmlformats.org/officeDocument/2006/relationships/slide" Target="slides/slide71.xml"/><Relationship Id="rId86" Type="http://schemas.openxmlformats.org/officeDocument/2006/relationships/slide" Target="slides/slide72.xml"/><Relationship Id="rId87" Type="http://schemas.openxmlformats.org/officeDocument/2006/relationships/slide" Target="slides/slide73.xml"/><Relationship Id="rId88" Type="http://schemas.openxmlformats.org/officeDocument/2006/relationships/slide" Target="slides/slide74.xml"/><Relationship Id="rId89" Type="http://schemas.openxmlformats.org/officeDocument/2006/relationships/slide" Target="slides/slide75.xml"/><Relationship Id="rId90" Type="http://schemas.openxmlformats.org/officeDocument/2006/relationships/slide" Target="slides/slide76.xml"/><Relationship Id="rId91" Type="http://schemas.openxmlformats.org/officeDocument/2006/relationships/slide" Target="slides/slide77.xml"/><Relationship Id="rId92" Type="http://schemas.openxmlformats.org/officeDocument/2006/relationships/slide" Target="slides/slide78.xml"/><Relationship Id="rId93" Type="http://schemas.openxmlformats.org/officeDocument/2006/relationships/slide" Target="slides/slide79.xml"/><Relationship Id="rId94" Type="http://schemas.openxmlformats.org/officeDocument/2006/relationships/slide" Target="slides/slide80.xml"/><Relationship Id="rId95" Type="http://schemas.openxmlformats.org/officeDocument/2006/relationships/slide" Target="slides/slide81.xml"/><Relationship Id="rId96" Type="http://schemas.openxmlformats.org/officeDocument/2006/relationships/slide" Target="slides/slide82.xml"/><Relationship Id="rId97" Type="http://schemas.openxmlformats.org/officeDocument/2006/relationships/slide" Target="slides/slide83.xml"/><Relationship Id="rId98" Type="http://schemas.openxmlformats.org/officeDocument/2006/relationships/slide" Target="slides/slide84.xml"/><Relationship Id="rId99" Type="http://schemas.openxmlformats.org/officeDocument/2006/relationships/slide" Target="slides/slide85.xml"/><Relationship Id="rId100" Type="http://schemas.openxmlformats.org/officeDocument/2006/relationships/slide" Target="slides/slide86.xml"/><Relationship Id="rId101" Type="http://schemas.openxmlformats.org/officeDocument/2006/relationships/slide" Target="slides/slide87.xml"/><Relationship Id="rId102" Type="http://schemas.openxmlformats.org/officeDocument/2006/relationships/slide" Target="slides/slide88.xml"/><Relationship Id="rId103" Type="http://schemas.openxmlformats.org/officeDocument/2006/relationships/slide" Target="slides/slide89.xml"/><Relationship Id="rId104" Type="http://schemas.openxmlformats.org/officeDocument/2006/relationships/slide" Target="slides/slide90.xml"/><Relationship Id="rId105" Type="http://schemas.openxmlformats.org/officeDocument/2006/relationships/slide" Target="slides/slide91.xml"/><Relationship Id="rId106" Type="http://schemas.openxmlformats.org/officeDocument/2006/relationships/slide" Target="slides/slide92.xml"/><Relationship Id="rId107" Type="http://schemas.openxmlformats.org/officeDocument/2006/relationships/slide" Target="slides/slide93.xml"/><Relationship Id="rId108" Type="http://schemas.openxmlformats.org/officeDocument/2006/relationships/slide" Target="slides/slide94.xml"/><Relationship Id="rId109" Type="http://schemas.openxmlformats.org/officeDocument/2006/relationships/slide" Target="slides/slide95.xml"/><Relationship Id="rId110" Type="http://schemas.openxmlformats.org/officeDocument/2006/relationships/slide" Target="slides/slide96.xml"/><Relationship Id="rId111" Type="http://schemas.openxmlformats.org/officeDocument/2006/relationships/slide" Target="slides/slide97.xml"/><Relationship Id="rId112" Type="http://schemas.openxmlformats.org/officeDocument/2006/relationships/slide" Target="slides/slide98.xml"/><Relationship Id="rId113" Type="http://schemas.openxmlformats.org/officeDocument/2006/relationships/slide" Target="slides/slide99.xml"/><Relationship Id="rId114" Type="http://schemas.openxmlformats.org/officeDocument/2006/relationships/slide" Target="slides/slide100.xml"/><Relationship Id="rId115" Type="http://schemas.openxmlformats.org/officeDocument/2006/relationships/slide" Target="slides/slide101.xml"/><Relationship Id="rId116" Type="http://schemas.openxmlformats.org/officeDocument/2006/relationships/slide" Target="slides/slide102.xml"/><Relationship Id="rId117" Type="http://schemas.openxmlformats.org/officeDocument/2006/relationships/slide" Target="slides/slide103.xml"/><Relationship Id="rId120" Type="http://schemas.openxmlformats.org/officeDocument/2006/relationships/slide" Target="slides/slide104.xml"/><Relationship Id="rId122" Type="http://schemas.openxmlformats.org/officeDocument/2006/relationships/slide" Target="slides/slide105.xml"/><Relationship Id="rId123" Type="http://schemas.openxmlformats.org/officeDocument/2006/relationships/slide" Target="slides/slide10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0972800" cy="5715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749808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61120" y="749808"/>
            <a:ext cx="22402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0073A6"/>
                </a:solidFill>
                <a:latin typeface="Arial"/>
              </a:rPr>
              <a:t>NON-WSQ COURSE  |  EMBEDDED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978408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700" b="1">
                <a:solidFill>
                  <a:srgbClr val="131A22"/>
                </a:solidFill>
                <a:latin typeface="Arial"/>
              </a:rPr>
              <a:t>Arduino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794760"/>
            <a:ext cx="6858000" cy="1143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C242E"/>
                </a:solidFill>
                <a:latin typeface="Arial"/>
              </a:rPr>
              <a:t>Course Code  C218</a:t>
            </a:r>
          </a:p>
          <a:p>
            <a:r>
              <a:rPr sz="1600" b="1">
                <a:latin typeface="Arial"/>
              </a:rPr>
              <a:t>Non-WSQ commercial short course</a:t>
            </a:r>
          </a:p>
          <a:p>
            <a:r>
              <a:rPr sz="1600" b="1">
                <a:latin typeface="Arial"/>
              </a:rPr>
              <a:t>Conducted by Tertiary Infotech Academy Pte Ltd  |  UEN 201200696W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3383280"/>
            <a:ext cx="2057400" cy="123444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6840" y="3611880"/>
            <a:ext cx="1600200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1">
                <a:solidFill>
                  <a:srgbClr val="008A68"/>
                </a:solidFill>
                <a:latin typeface="Arial"/>
              </a:rPr>
              <a:t>SENSE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3913632"/>
            <a:ext cx="1600200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1">
                <a:solidFill>
                  <a:srgbClr val="0073A6"/>
                </a:solidFill>
                <a:latin typeface="Arial"/>
              </a:rPr>
              <a:t>DECIDE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4215384"/>
            <a:ext cx="1600200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1">
                <a:solidFill>
                  <a:srgbClr val="E9722B"/>
                </a:solidFill>
                <a:latin typeface="Arial"/>
              </a:rPr>
              <a:t>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553212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576470"/>
                </a:solidFill>
                <a:latin typeface="Arial"/>
              </a:rPr>
              <a:t>Version 1.0  |  30 September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5897880"/>
            <a:ext cx="914400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76470"/>
                </a:solidFill>
                <a:latin typeface="Arial"/>
              </a:rPr>
              <a:t>Trainer: ______________________________</a:t>
            </a:r>
          </a:p>
        </p:txBody>
      </p:sp>
    </p:spTree>
  </p:cSld>
  <p:transition spd="med">
    <p:push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73A6"/>
                </a:solidFill>
                <a:latin typeface="Arial"/>
              </a:rPr>
              <a:t>TRAINER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About the Trainer - Template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64208"/>
            <a:ext cx="100584" cy="217170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73A6"/>
                </a:solidFill>
                <a:latin typeface="Arial"/>
              </a:rPr>
              <a:t>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1664208"/>
            <a:ext cx="100584" cy="217170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8A68"/>
                </a:solidFill>
                <a:latin typeface="Arial"/>
              </a:rPr>
              <a:t>Qualifications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064508"/>
            <a:ext cx="100584" cy="217170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E9722B"/>
                </a:solidFill>
                <a:latin typeface="Arial"/>
              </a:rPr>
              <a:t>Industry 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064508"/>
            <a:ext cx="100584" cy="21717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6E56CF"/>
                </a:solidFill>
                <a:latin typeface="Arial"/>
              </a:rPr>
              <a:t>Contact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5" name="Oval 24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transition spd="fast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73A6"/>
                </a:solidFill>
                <a:latin typeface="Arial"/>
              </a:rPr>
              <a:t>NAMED TRAINER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About the Trainer - Dr Alfred 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64208"/>
            <a:ext cx="100584" cy="217170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73A6"/>
                </a:solidFill>
                <a:latin typeface="Arial"/>
              </a:rP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Principal Trainer, Tertiary Infotech Academy Pte Ltd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1664208"/>
            <a:ext cx="100584" cy="217170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8A68"/>
                </a:solidFill>
                <a:latin typeface="Arial"/>
              </a:rPr>
              <a:t>Engineering lens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Embedded systems, automation, software and applied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064508"/>
            <a:ext cx="100584" cy="217170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E9722B"/>
                </a:solidFill>
                <a:latin typeface="Arial"/>
              </a:rPr>
              <a:t>Teaching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Mechanism first: build, measure, diagnose, then improve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064508"/>
            <a:ext cx="100584" cy="21717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6E56CF"/>
                </a:solidFill>
                <a:latin typeface="Arial"/>
              </a:rPr>
              <a:t>Learner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Working circuits, readable sketches, serial traces and acceptance checks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5" name="Oval 24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73A6"/>
                </a:solidFill>
                <a:latin typeface="Arial"/>
              </a:rPr>
              <a:t>CONTEXT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Let's Know Each 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64208"/>
            <a:ext cx="100584" cy="217170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73A6"/>
                </a:solidFill>
                <a:latin typeface="Arial"/>
              </a:rPr>
              <a:t>Your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Where do electronics or automation show up in your work?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1664208"/>
            <a:ext cx="100584" cy="217170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8A68"/>
                </a:solidFill>
                <a:latin typeface="Arial"/>
              </a:rPr>
              <a:t>Prior exposure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Arduino, C/C++, breadboards, sensors, motors - any level is welcome.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064508"/>
            <a:ext cx="100584" cy="217170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E9722B"/>
                </a:solidFill>
                <a:latin typeface="Arial"/>
              </a:rPr>
              <a:t>Target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What real device would you like to sense or control?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064508"/>
            <a:ext cx="100584" cy="21717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6E56CF"/>
                </a:solidFill>
                <a:latin typeface="Arial"/>
              </a:rPr>
              <a:t>Evidence habit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How will you prove a prototype works rather than merely looks complete?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5" name="Oval 24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transition spd="fast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73A6"/>
                </a:solidFill>
                <a:latin typeface="Arial"/>
              </a:rPr>
              <a:t>WORKING AGREEMENT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Ground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64208"/>
            <a:ext cx="100584" cy="2171700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C53D43"/>
                </a:solidFill>
                <a:latin typeface="Arial"/>
              </a:rPr>
              <a:t>Safety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Power OFF before rewiring. Never drive a motor directly from an I/O pin.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1664208"/>
            <a:ext cx="100584" cy="217170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73A6"/>
                </a:solidFill>
                <a:latin typeface="Arial"/>
              </a:rPr>
              <a:t>One circuit at a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Build, inspect, power, measure, and record evidence before extending.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064508"/>
            <a:ext cx="100584" cy="217170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8A68"/>
                </a:solidFill>
                <a:latin typeface="Arial"/>
              </a:rPr>
              <a:t>Active participation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Predict the output, explain the mechanism, then run the test.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064508"/>
            <a:ext cx="100584" cy="21717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6E56CF"/>
                </a:solidFill>
                <a:latin typeface="Arial"/>
              </a:rPr>
              <a:t>Professional conduct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Respect others, return on time, and keep phones silent.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5" name="Oval 24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</p:spTree>
  </p:cSld>
  <p:transition spd="fast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73A6"/>
                </a:solidFill>
                <a:latin typeface="Arial"/>
              </a:rPr>
              <a:t>APPROVED COURSE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Course Facts and Time 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64208"/>
            <a:ext cx="100584" cy="217170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73A6"/>
                </a:solidFill>
                <a:latin typeface="Arial"/>
              </a:rPr>
              <a:t>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Arduino Masterclass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1664208"/>
            <a:ext cx="100584" cy="217170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8A68"/>
                </a:solidFill>
                <a:latin typeface="Arial"/>
              </a:rPr>
              <a:t>Duration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One day: 7.5 instructional hours (9:30am - 5:30pm)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064508"/>
            <a:ext cx="100584" cy="217170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E9722B"/>
                </a:solidFill>
                <a:latin typeface="Arial"/>
              </a:rPr>
              <a:t>Progress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Lab acceptance tests after every topic - no formal exam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064508"/>
            <a:ext cx="100584" cy="21717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6E56CF"/>
                </a:solidFill>
                <a:latin typeface="Arial"/>
              </a:rPr>
              <a:t>Hardware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Arduino Uno/Maker UNO, breadboard, sensors, driver stages and actuators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5" name="Oval 24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</p:spTree>
  </p:cSld>
  <p:transition spd="fast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73A6"/>
                </a:solidFill>
                <a:latin typeface="Arial"/>
              </a:rPr>
              <a:t>ONE CONTINUOUS CONTROL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Course Learning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5880" y="2606040"/>
            <a:ext cx="658368" cy="658368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73A6"/>
                </a:solidFill>
                <a:latin typeface="Arial"/>
              </a:rPr>
              <a:t>Topic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Board, sketch, timing, serial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51760" y="3611880"/>
            <a:ext cx="228600" cy="0"/>
          </a:xfrm>
          <a:prstGeom prst="line">
            <a:avLst/>
          </a:prstGeom>
          <a:ln w="25400">
            <a:solidFill>
              <a:srgbClr val="007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47872" y="2606040"/>
            <a:ext cx="658368" cy="658368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73A6"/>
                </a:solidFill>
                <a:latin typeface="Arial"/>
              </a:rPr>
              <a:t>Topic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Voltage, current, digital I/O, PWM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611880"/>
            <a:ext cx="228600" cy="0"/>
          </a:xfrm>
          <a:prstGeom prst="line">
            <a:avLst/>
          </a:prstGeom>
          <a:ln w="25400">
            <a:solidFill>
              <a:srgbClr val="007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02352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9864" y="2606040"/>
            <a:ext cx="658368" cy="658368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9864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73A6"/>
                </a:solidFill>
                <a:latin typeface="Arial"/>
              </a:rPr>
              <a:t>Topic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ADC, calibration, LDR, servo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95744" y="3611880"/>
            <a:ext cx="228600" cy="0"/>
          </a:xfrm>
          <a:prstGeom prst="line">
            <a:avLst/>
          </a:prstGeom>
          <a:ln w="25400">
            <a:solidFill>
              <a:srgbClr val="007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24344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91856" y="2606040"/>
            <a:ext cx="658368" cy="658368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91856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73A6"/>
                </a:solidFill>
                <a:latin typeface="Arial"/>
              </a:rPr>
              <a:t>Topic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Ultrasonic, PIR, timeouts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17736" y="3611880"/>
            <a:ext cx="228600" cy="0"/>
          </a:xfrm>
          <a:prstGeom prst="line">
            <a:avLst/>
          </a:prstGeom>
          <a:ln w="25400">
            <a:solidFill>
              <a:srgbClr val="007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46336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3848" y="2606040"/>
            <a:ext cx="658368" cy="658368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3848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4352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73A6"/>
                </a:solidFill>
                <a:latin typeface="Arial"/>
              </a:rPr>
              <a:t>Topic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4352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DHT, drivers, motors, feedback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38" name="Oval 37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</p:spTree>
  </p:cSld>
  <p:transition spd="fast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73A6"/>
                </a:solidFill>
                <a:latin typeface="Arial"/>
              </a:rPr>
              <a:t>SAFETY CONTROL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Equipment and Electrical Safety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64208"/>
            <a:ext cx="100584" cy="2171700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C53D43"/>
                </a:solidFill>
                <a:latin typeface="Arial"/>
              </a:rPr>
              <a:t>I/O boundary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Use logic pins for signals, not motor/servo supply current.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1664208"/>
            <a:ext cx="100584" cy="217170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E9722B"/>
                </a:solidFill>
                <a:latin typeface="Arial"/>
              </a:rPr>
              <a:t>Power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External actuator power must share a common ground with Arduino.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064508"/>
            <a:ext cx="100584" cy="21717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6E56CF"/>
                </a:solidFill>
                <a:latin typeface="Arial"/>
              </a:rPr>
              <a:t>Inductive loads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Use a transistor/MOSFET driver and flyback diode.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064508"/>
            <a:ext cx="100584" cy="217170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8A68"/>
                </a:solidFill>
                <a:latin typeface="Arial"/>
              </a:rPr>
              <a:t>Rewire safely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Disconnect power before moving components or probing continuity.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5" name="Oval 24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</p:spTree>
  </p:cSld>
  <p:transition spd="fast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73A6"/>
                </a:solidFill>
                <a:latin typeface="Arial"/>
              </a:rPr>
              <a:t>VISUAL COURSE-PORTAL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Download Course Material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286000"/>
            <a:ext cx="2548890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03629" y="2606040"/>
            <a:ext cx="658368" cy="658368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3629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429000"/>
            <a:ext cx="2292858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73A6"/>
                </a:solidFill>
                <a:latin typeface="Arial"/>
              </a:rPr>
              <a:t>SIGN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950208"/>
            <a:ext cx="2292858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Open lms-tms.tertiaryinfotech.com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07258" y="3611880"/>
            <a:ext cx="228600" cy="0"/>
          </a:xfrm>
          <a:prstGeom prst="line">
            <a:avLst/>
          </a:prstGeom>
          <a:ln w="25400">
            <a:solidFill>
              <a:srgbClr val="007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35858" y="2286000"/>
            <a:ext cx="2548890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81119" y="2606040"/>
            <a:ext cx="658368" cy="658368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1119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3874" y="3429000"/>
            <a:ext cx="2292858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73A6"/>
                </a:solidFill>
                <a:latin typeface="Arial"/>
              </a:rPr>
              <a:t>OPEN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3874" y="3950208"/>
            <a:ext cx="2292858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Select C218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84748" y="3611880"/>
            <a:ext cx="228600" cy="0"/>
          </a:xfrm>
          <a:prstGeom prst="line">
            <a:avLst/>
          </a:prstGeom>
          <a:ln w="25400">
            <a:solidFill>
              <a:srgbClr val="007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13348" y="2286000"/>
            <a:ext cx="2548890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58609" y="2606040"/>
            <a:ext cx="658368" cy="658368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58609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1364" y="3429000"/>
            <a:ext cx="2292858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73A6"/>
                </a:solidFill>
                <a:latin typeface="Arial"/>
              </a:rPr>
              <a:t>DOWNLOAD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1364" y="3950208"/>
            <a:ext cx="2292858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Learner Slides, LG and Labs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62238" y="3611880"/>
            <a:ext cx="228600" cy="0"/>
          </a:xfrm>
          <a:prstGeom prst="line">
            <a:avLst/>
          </a:prstGeom>
          <a:ln w="25400">
            <a:solidFill>
              <a:srgbClr val="007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90838" y="2286000"/>
            <a:ext cx="2548890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36099" y="2606040"/>
            <a:ext cx="658368" cy="658368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36099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8854" y="3429000"/>
            <a:ext cx="2292858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73A6"/>
                </a:solidFill>
                <a:latin typeface="Arial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8854" y="3950208"/>
            <a:ext cx="2292858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Filename/version match v1.0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32" name="Oval 31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</p:spTree>
  </p:cSld>
  <p:transition spd="fast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594360"/>
            <a:ext cx="1417320" cy="1417320"/>
          </a:xfrm>
          <a:prstGeom prst="ellipse">
            <a:avLst/>
          </a:prstGeom>
          <a:solidFill>
            <a:srgbClr val="F4F7F9"/>
          </a:solidFill>
          <a:ln>
            <a:solidFill>
              <a:srgbClr val="007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38360" y="676656"/>
            <a:ext cx="141732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800" b="1">
                <a:solidFill>
                  <a:srgbClr val="0073A6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0073A6"/>
                </a:solidFill>
                <a:latin typeface="Arial"/>
              </a:rPr>
              <a:t>TOPIC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978408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131A22"/>
                </a:solidFill>
                <a:latin typeface="Arial"/>
              </a:rPr>
              <a:t>Introduction to Embedded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977639"/>
            <a:ext cx="932688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576470"/>
                </a:solidFill>
                <a:latin typeface="Arial"/>
              </a:rPr>
              <a:t>Architecture, resource constraints, ATmega328P, sketch lifecycle, timing, and serial 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12" name="Oval 11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</p:spTree>
  </p:cSld>
  <p:transition spd="med">
    <p:push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73A6"/>
                </a:solidFill>
                <a:latin typeface="Arial"/>
              </a:rPr>
              <a:t>SIGNAL / CONTROL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Closed-Loop Embedded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5880" y="2606040"/>
            <a:ext cx="658368" cy="658368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73A6"/>
                </a:solidFill>
                <a:latin typeface="Arial"/>
              </a:rPr>
              <a:t>SENSOR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Physical quantity -&gt; electrical signal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51760" y="3611880"/>
            <a:ext cx="228600" cy="0"/>
          </a:xfrm>
          <a:prstGeom prst="line">
            <a:avLst/>
          </a:prstGeom>
          <a:ln w="25400">
            <a:solidFill>
              <a:srgbClr val="007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47872" y="2606040"/>
            <a:ext cx="658368" cy="658368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73A6"/>
                </a:solidFill>
                <a:latin typeface="Arial"/>
              </a:rPr>
              <a:t>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ADC / digital threshold / serial frame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611880"/>
            <a:ext cx="228600" cy="0"/>
          </a:xfrm>
          <a:prstGeom prst="line">
            <a:avLst/>
          </a:prstGeom>
          <a:ln w="25400">
            <a:solidFill>
              <a:srgbClr val="007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02352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9864" y="2606040"/>
            <a:ext cx="658368" cy="658368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9864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73A6"/>
                </a:solidFill>
                <a:latin typeface="Arial"/>
              </a:rPr>
              <a:t>PROCESS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State + decision + timing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95744" y="3611880"/>
            <a:ext cx="228600" cy="0"/>
          </a:xfrm>
          <a:prstGeom prst="line">
            <a:avLst/>
          </a:prstGeom>
          <a:ln w="25400">
            <a:solidFill>
              <a:srgbClr val="007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24344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91856" y="2606040"/>
            <a:ext cx="658368" cy="658368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91856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73A6"/>
                </a:solidFill>
                <a:latin typeface="Arial"/>
              </a:rPr>
              <a:t>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GPIO / PWM / driver signal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17736" y="3611880"/>
            <a:ext cx="228600" cy="0"/>
          </a:xfrm>
          <a:prstGeom prst="line">
            <a:avLst/>
          </a:prstGeom>
          <a:ln w="25400">
            <a:solidFill>
              <a:srgbClr val="007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46336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3848" y="2606040"/>
            <a:ext cx="658368" cy="658368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3848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4352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73A6"/>
                </a:solidFill>
                <a:latin typeface="Arial"/>
              </a:rPr>
              <a:t>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4352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Serial trace + measured behaviour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38" name="Oval 37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</p:spTree>
  </p:cSld>
  <p:transition spd="fast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73A6"/>
                </a:solidFill>
                <a:latin typeface="Arial"/>
              </a:rPr>
              <a:t>DECISION /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General-Purpose vs Embedded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257800" cy="443484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75104"/>
            <a:ext cx="47548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0073A6"/>
                </a:solidFill>
                <a:latin typeface="Arial"/>
              </a:rPr>
              <a:t>DESKTOP / MOBILE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542032"/>
            <a:ext cx="292608" cy="292608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4168" y="2523744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31A22"/>
                </a:solidFill>
                <a:latin typeface="Arial"/>
              </a:rPr>
              <a:t>Workload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852927"/>
            <a:ext cx="4251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576470"/>
                </a:solidFill>
                <a:latin typeface="Arial"/>
              </a:rPr>
              <a:t>Many user-selected applications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456432"/>
            <a:ext cx="292608" cy="292608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3438144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31A22"/>
                </a:solidFill>
                <a:latin typeface="Arial"/>
              </a:rPr>
              <a:t>Resources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3767328"/>
            <a:ext cx="4251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576470"/>
                </a:solidFill>
                <a:latin typeface="Arial"/>
              </a:rPr>
              <a:t>Large memory/storage; rich OS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370831"/>
            <a:ext cx="292608" cy="292608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44168" y="4352544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31A22"/>
                </a:solidFill>
                <a:latin typeface="Arial"/>
              </a:rPr>
              <a:t>Timing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4681727"/>
            <a:ext cx="4251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576470"/>
                </a:solidFill>
                <a:latin typeface="Arial"/>
              </a:rPr>
              <a:t>Best effort is often acceptable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285231"/>
            <a:ext cx="292608" cy="292608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44168" y="5266944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31A22"/>
                </a:solidFill>
                <a:latin typeface="Arial"/>
              </a:rPr>
              <a:t>Power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5596127"/>
            <a:ext cx="4251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576470"/>
                </a:solidFill>
                <a:latin typeface="Arial"/>
              </a:rPr>
              <a:t>Mains or large battery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755648"/>
            <a:ext cx="5257800" cy="443484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975104"/>
            <a:ext cx="47548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008A68"/>
                </a:solidFill>
                <a:latin typeface="Arial"/>
              </a:rPr>
              <a:t>EMBEDDED CONTROLLER</a:t>
            </a:r>
          </a:p>
        </p:txBody>
      </p:sp>
      <p:sp>
        <p:nvSpPr>
          <p:cNvPr id="22" name="Oval 21"/>
          <p:cNvSpPr/>
          <p:nvPr/>
        </p:nvSpPr>
        <p:spPr>
          <a:xfrm>
            <a:off x="6519672" y="2542032"/>
            <a:ext cx="292608" cy="292608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2523744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31A22"/>
                </a:solidFill>
                <a:latin typeface="Arial"/>
              </a:rPr>
              <a:t>Workload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852927"/>
            <a:ext cx="4251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576470"/>
                </a:solidFill>
                <a:latin typeface="Arial"/>
              </a:rPr>
              <a:t>Dedicated control function</a:t>
            </a:r>
          </a:p>
        </p:txBody>
      </p:sp>
      <p:sp>
        <p:nvSpPr>
          <p:cNvPr id="25" name="Oval 24"/>
          <p:cNvSpPr/>
          <p:nvPr/>
        </p:nvSpPr>
        <p:spPr>
          <a:xfrm>
            <a:off x="6519672" y="3456432"/>
            <a:ext cx="292608" cy="292608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438144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31A22"/>
                </a:solidFill>
                <a:latin typeface="Arial"/>
              </a:rPr>
              <a:t>Resources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767328"/>
            <a:ext cx="4251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576470"/>
                </a:solidFill>
                <a:latin typeface="Arial"/>
              </a:rPr>
              <a:t>Bounded flash, SRAM and I/O</a:t>
            </a:r>
          </a:p>
        </p:txBody>
      </p:sp>
      <p:sp>
        <p:nvSpPr>
          <p:cNvPr id="28" name="Oval 27"/>
          <p:cNvSpPr/>
          <p:nvPr/>
        </p:nvSpPr>
        <p:spPr>
          <a:xfrm>
            <a:off x="6519672" y="4370831"/>
            <a:ext cx="292608" cy="292608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4352544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31A22"/>
                </a:solidFill>
                <a:latin typeface="Arial"/>
              </a:rPr>
              <a:t>Timing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681727"/>
            <a:ext cx="4251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576470"/>
                </a:solidFill>
                <a:latin typeface="Arial"/>
              </a:rPr>
              <a:t>Deadlines affect physical behaviour</a:t>
            </a:r>
          </a:p>
        </p:txBody>
      </p:sp>
      <p:sp>
        <p:nvSpPr>
          <p:cNvPr id="31" name="Oval 30"/>
          <p:cNvSpPr/>
          <p:nvPr/>
        </p:nvSpPr>
        <p:spPr>
          <a:xfrm>
            <a:off x="6519672" y="5285231"/>
            <a:ext cx="292608" cy="292608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5266944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31A22"/>
                </a:solidFill>
                <a:latin typeface="Arial"/>
              </a:rPr>
              <a:t>Power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596127"/>
            <a:ext cx="4251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576470"/>
                </a:solidFill>
                <a:latin typeface="Arial"/>
              </a:rPr>
              <a:t>Energy and thermal limits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37" name="Oval 36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12</a:t>
            </a:r>
          </a:p>
        </p:txBody>
      </p:sp>
    </p:spTree>
  </p:cSld>
  <p:transition spd="fast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73A6"/>
                </a:solidFill>
                <a:latin typeface="Arial"/>
              </a:rPr>
              <a:t>WORKED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Resource Budget Is a Design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4617720" cy="1874519"/>
          </a:xfrm>
          <a:prstGeom prst="round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04288"/>
            <a:ext cx="40690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rial"/>
              </a:rPr>
              <a:t>available = capacity - static - worst-case dynamic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828800"/>
            <a:ext cx="5943600" cy="1874519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80" y="205740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0073A6"/>
                </a:solidFill>
                <a:latin typeface="Arial"/>
              </a:rPr>
              <a:t>SUBSTITUTE REAL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2578608"/>
            <a:ext cx="530352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>
                <a:solidFill>
                  <a:srgbClr val="131A22"/>
                </a:solidFill>
                <a:latin typeface="Arial"/>
              </a:rPr>
              <a:t>2,048 B SRAM - 820 B globals - 768 B stack margin = 460 B headroom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096512"/>
            <a:ext cx="3429000" cy="16002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4315968"/>
            <a:ext cx="2971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0073A6"/>
                </a:solidFill>
                <a:latin typeface="Arial"/>
              </a:rPr>
              <a:t>Flash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736592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131A22"/>
                </a:solidFill>
                <a:latin typeface="Arial"/>
              </a:rPr>
              <a:t>Sketch + libraries &lt;= 32 KB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6552" y="4096512"/>
            <a:ext cx="3429000" cy="16002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4315968"/>
            <a:ext cx="2971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0073A6"/>
                </a:solidFill>
                <a:latin typeface="Arial"/>
              </a:rPr>
              <a:t>SRAM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736592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131A22"/>
                </a:solidFill>
                <a:latin typeface="Arial"/>
              </a:rPr>
              <a:t>Globals + heap + stack &lt; 2 KB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4" y="4096512"/>
            <a:ext cx="3429000" cy="16002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2" y="4315968"/>
            <a:ext cx="2971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0073A6"/>
                </a:solidFill>
                <a:latin typeface="Arial"/>
              </a:rPr>
              <a:t>Timing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4736592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131A22"/>
                </a:solidFill>
                <a:latin typeface="Arial"/>
              </a:rPr>
              <a:t>Worst-case loop &lt; control deadline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3" name="Oval 22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13</a:t>
            </a:r>
          </a:p>
        </p:txBody>
      </p:sp>
    </p:spTree>
  </p:cSld>
  <p:transition spd="fast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73A6"/>
                </a:solidFill>
                <a:latin typeface="Arial"/>
              </a:rPr>
              <a:t>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ATmega328P Controller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64208"/>
            <a:ext cx="100584" cy="217170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73A6"/>
                </a:solidFill>
                <a:latin typeface="Arial"/>
              </a:rPr>
              <a:t>CPU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8-bit AVR core at 16 MHz; executes the control program.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1664208"/>
            <a:ext cx="100584" cy="217170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8A68"/>
                </a:solidFill>
                <a:latin typeface="Arial"/>
              </a:rPr>
              <a:t>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32 KB flash, 2 KB SRAM, 1 KB EEPROM - each has different persistence.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064508"/>
            <a:ext cx="100584" cy="217170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E9722B"/>
                </a:solidFill>
                <a:latin typeface="Arial"/>
              </a:rPr>
              <a:t>Interfaces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GPIO, ADC, timers/PWM, UART, SPI and I2C/TWI.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064508"/>
            <a:ext cx="100584" cy="21717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6E56CF"/>
                </a:solidFill>
                <a:latin typeface="Arial"/>
              </a:rPr>
              <a:t>Reset / boot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Bootloader receives sketches; reset restarts setup() then loop().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5" name="Oval 24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14</a:t>
            </a:r>
          </a:p>
        </p:txBody>
      </p:sp>
    </p:spTree>
  </p:cSld>
  <p:transition spd="fast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73A6"/>
                </a:solidFill>
                <a:latin typeface="Arial"/>
              </a:rPr>
              <a:t>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Arduino Uno Pin 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64208"/>
            <a:ext cx="100584" cy="217170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73A6"/>
                </a:solidFill>
                <a:latin typeface="Arial"/>
              </a:rPr>
              <a:t>D0/D1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UART RX/TX - avoid conflicts while using Serial.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1664208"/>
            <a:ext cx="100584" cy="217170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8A68"/>
                </a:solidFill>
                <a:latin typeface="Arial"/>
              </a:rPr>
              <a:t>D3/5/6/9/10/11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PWM-capable on the classic Uno; timer use can interact with libraries.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064508"/>
            <a:ext cx="100584" cy="217170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E9722B"/>
                </a:solidFill>
                <a:latin typeface="Arial"/>
              </a:rPr>
              <a:t>A0-A5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Six 10-bit ADC channels; A4/A5 also serve I2C.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064508"/>
            <a:ext cx="100584" cy="21717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6E56CF"/>
                </a:solidFill>
                <a:latin typeface="Arial"/>
              </a:rPr>
              <a:t>D13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Built-in LED - useful evidence without external wiring.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5" name="Oval 24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15</a:t>
            </a:r>
          </a:p>
        </p:txBody>
      </p:sp>
    </p:spTree>
  </p:cSld>
  <p:transition spd="fast">
    <p:fade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73A6"/>
                </a:solidFill>
                <a:latin typeface="Arial"/>
              </a:rPr>
              <a:t>SIGNAL / CONTROL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Sketch Runtime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5880" y="2606040"/>
            <a:ext cx="658368" cy="658368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73A6"/>
                </a:solidFill>
                <a:latin typeface="Arial"/>
              </a:rPr>
              <a:t>RESET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Registers/peripherals start from reset state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51760" y="3611880"/>
            <a:ext cx="228600" cy="0"/>
          </a:xfrm>
          <a:prstGeom prst="line">
            <a:avLst/>
          </a:prstGeom>
          <a:ln w="25400">
            <a:solidFill>
              <a:srgbClr val="007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47872" y="2606040"/>
            <a:ext cx="658368" cy="658368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73A6"/>
                </a:solidFill>
                <a:latin typeface="Arial"/>
              </a:rPr>
              <a:t>BOOTLOADER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Short upload/listen window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611880"/>
            <a:ext cx="228600" cy="0"/>
          </a:xfrm>
          <a:prstGeom prst="line">
            <a:avLst/>
          </a:prstGeom>
          <a:ln w="25400">
            <a:solidFill>
              <a:srgbClr val="007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02352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9864" y="2606040"/>
            <a:ext cx="658368" cy="658368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9864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73A6"/>
                </a:solidFill>
                <a:latin typeface="Arial"/>
              </a:rPr>
              <a:t>setup()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One-time pin, serial and library initialisation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95744" y="3611880"/>
            <a:ext cx="228600" cy="0"/>
          </a:xfrm>
          <a:prstGeom prst="line">
            <a:avLst/>
          </a:prstGeom>
          <a:ln w="25400">
            <a:solidFill>
              <a:srgbClr val="007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24344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91856" y="2606040"/>
            <a:ext cx="658368" cy="658368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91856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73A6"/>
                </a:solidFill>
                <a:latin typeface="Arial"/>
              </a:rPr>
              <a:t>loop()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Repeated control cycle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17736" y="3611880"/>
            <a:ext cx="228600" cy="0"/>
          </a:xfrm>
          <a:prstGeom prst="line">
            <a:avLst/>
          </a:prstGeom>
          <a:ln w="25400">
            <a:solidFill>
              <a:srgbClr val="007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46336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3848" y="2606040"/>
            <a:ext cx="658368" cy="658368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3848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4352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73A6"/>
                </a:solidFill>
                <a:latin typeface="Arial"/>
              </a:rPr>
              <a:t>INTERRUPTS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4352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Asynchronous events alter timing/state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38" name="Oval 37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16</a:t>
            </a:r>
          </a:p>
        </p:txBody>
      </p:sp>
    </p:spTree>
  </p:cSld>
  <p:transition spd="fast">
    <p:fade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73A6"/>
                </a:solidFill>
                <a:latin typeface="Arial"/>
              </a:rPr>
              <a:t>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Variables Are Hardware-Relevant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64208"/>
            <a:ext cx="100584" cy="217170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73A6"/>
                </a:solidFill>
                <a:latin typeface="Arial"/>
              </a:rPr>
              <a:t>uint8_t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Exact 0-255 range; matches many registers and PWM values.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1664208"/>
            <a:ext cx="100584" cy="217170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8A68"/>
                </a:solidFill>
                <a:latin typeface="Arial"/>
              </a:rPr>
              <a:t>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Convenient arithmetic but size is architecture-dependent.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064508"/>
            <a:ext cx="100584" cy="217170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E9722B"/>
                </a:solidFill>
                <a:latin typeface="Arial"/>
              </a:rPr>
              <a:t>unsigned long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Holds millis()/micros() timestamps without negative values.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064508"/>
            <a:ext cx="100584" cy="21717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6E56CF"/>
                </a:solidFill>
                <a:latin typeface="Arial"/>
              </a:rPr>
              <a:t>const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Documents a fixed pin/threshold and lets the compiler protect intent.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5" name="Oval 24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17</a:t>
            </a:r>
          </a:p>
        </p:txBody>
      </p:sp>
    </p:spTree>
  </p:cSld>
  <p:transition spd="fast">
    <p:fade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73A6"/>
                </a:solidFill>
                <a:latin typeface="Arial"/>
              </a:rPr>
              <a:t>DECISION /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Blocking vs Scheduled Timing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257800" cy="443484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75104"/>
            <a:ext cx="47548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0073A6"/>
                </a:solidFill>
                <a:latin typeface="Arial"/>
              </a:rPr>
              <a:t>BLOCKING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542032"/>
            <a:ext cx="292608" cy="292608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4168" y="2523744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31A22"/>
                </a:solidFill>
                <a:latin typeface="Arial"/>
              </a:rPr>
              <a:t>delay()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852927"/>
            <a:ext cx="4251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576470"/>
                </a:solidFill>
                <a:latin typeface="Arial"/>
              </a:rPr>
              <a:t>Stops normal loop progress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456432"/>
            <a:ext cx="292608" cy="292608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3438144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31A22"/>
                </a:solidFill>
                <a:latin typeface="Arial"/>
              </a:rPr>
              <a:t>Consequence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3767328"/>
            <a:ext cx="4251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576470"/>
                </a:solidFill>
                <a:latin typeface="Arial"/>
              </a:rPr>
              <a:t>Serial/button work waits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370831"/>
            <a:ext cx="292608" cy="292608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44168" y="4352544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31A22"/>
                </a:solidFill>
                <a:latin typeface="Arial"/>
              </a:rPr>
              <a:t>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4681727"/>
            <a:ext cx="4251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576470"/>
                </a:solidFill>
                <a:latin typeface="Arial"/>
              </a:rPr>
              <a:t>Simple isolated demonstrations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285231"/>
            <a:ext cx="292608" cy="292608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44168" y="5266944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31A22"/>
                </a:solidFill>
                <a:latin typeface="Arial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5596127"/>
            <a:ext cx="4251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576470"/>
                </a:solidFill>
                <a:latin typeface="Arial"/>
              </a:rPr>
              <a:t>Missed events and slow response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755648"/>
            <a:ext cx="5257800" cy="443484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975104"/>
            <a:ext cx="47548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008A68"/>
                </a:solidFill>
                <a:latin typeface="Arial"/>
              </a:rPr>
              <a:t>NON-BLOCKING</a:t>
            </a:r>
          </a:p>
        </p:txBody>
      </p:sp>
      <p:sp>
        <p:nvSpPr>
          <p:cNvPr id="22" name="Oval 21"/>
          <p:cNvSpPr/>
          <p:nvPr/>
        </p:nvSpPr>
        <p:spPr>
          <a:xfrm>
            <a:off x="6519672" y="2542032"/>
            <a:ext cx="292608" cy="292608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2523744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31A22"/>
                </a:solidFill>
                <a:latin typeface="Arial"/>
              </a:rPr>
              <a:t>millis() delta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852927"/>
            <a:ext cx="4251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576470"/>
                </a:solidFill>
                <a:latin typeface="Arial"/>
              </a:rPr>
              <a:t>Checks elapsed time without stopping</a:t>
            </a:r>
          </a:p>
        </p:txBody>
      </p:sp>
      <p:sp>
        <p:nvSpPr>
          <p:cNvPr id="25" name="Oval 24"/>
          <p:cNvSpPr/>
          <p:nvPr/>
        </p:nvSpPr>
        <p:spPr>
          <a:xfrm>
            <a:off x="6519672" y="3456432"/>
            <a:ext cx="292608" cy="292608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438144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31A22"/>
                </a:solidFill>
                <a:latin typeface="Arial"/>
              </a:rPr>
              <a:t>Consequence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767328"/>
            <a:ext cx="4251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576470"/>
                </a:solidFill>
                <a:latin typeface="Arial"/>
              </a:rPr>
              <a:t>Multiple behaviours interleave</a:t>
            </a:r>
          </a:p>
        </p:txBody>
      </p:sp>
      <p:sp>
        <p:nvSpPr>
          <p:cNvPr id="28" name="Oval 27"/>
          <p:cNvSpPr/>
          <p:nvPr/>
        </p:nvSpPr>
        <p:spPr>
          <a:xfrm>
            <a:off x="6519672" y="4370831"/>
            <a:ext cx="292608" cy="292608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4352544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31A22"/>
                </a:solidFill>
                <a:latin typeface="Arial"/>
              </a:rPr>
              <a:t>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681727"/>
            <a:ext cx="4251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576470"/>
                </a:solidFill>
                <a:latin typeface="Arial"/>
              </a:rPr>
              <a:t>Responsive control systems</a:t>
            </a:r>
          </a:p>
        </p:txBody>
      </p:sp>
      <p:sp>
        <p:nvSpPr>
          <p:cNvPr id="31" name="Oval 30"/>
          <p:cNvSpPr/>
          <p:nvPr/>
        </p:nvSpPr>
        <p:spPr>
          <a:xfrm>
            <a:off x="6519672" y="5285231"/>
            <a:ext cx="292608" cy="292608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5266944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31A22"/>
                </a:solidFill>
                <a:latin typeface="Arial"/>
              </a:rPr>
              <a:t>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596127"/>
            <a:ext cx="4251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576470"/>
                </a:solidFill>
                <a:latin typeface="Arial"/>
              </a:rPr>
              <a:t>Must handle rollover-safe subtraction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37" name="Oval 36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18</a:t>
            </a:r>
          </a:p>
        </p:txBody>
      </p:sp>
    </p:spTree>
  </p:cSld>
  <p:transition spd="fast">
    <p:fade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73A6"/>
                </a:solidFill>
                <a:latin typeface="Arial"/>
              </a:rPr>
              <a:t>TIMING WAVEFORM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UART Frame and Baud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20240"/>
            <a:ext cx="12344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31A22"/>
                </a:solidFill>
                <a:latin typeface="Arial"/>
              </a:rPr>
              <a:t>TX idle/start/data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2011680"/>
            <a:ext cx="1232154" cy="384048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52394" y="2304288"/>
            <a:ext cx="1008126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0520" y="2011680"/>
            <a:ext cx="1232154" cy="384048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92674" y="2304288"/>
            <a:ext cx="1008126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1232154" cy="384048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2954" y="2304288"/>
            <a:ext cx="1008126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41080" y="2011680"/>
            <a:ext cx="1232154" cy="384048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73234" y="2304288"/>
            <a:ext cx="1008126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54512" y="1956816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0073A6"/>
                </a:solidFill>
                <a:latin typeface="Arial"/>
              </a:rPr>
              <a:t>55%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999232"/>
            <a:ext cx="12344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31A22"/>
                </a:solidFill>
                <a:latin typeface="Arial"/>
              </a:rPr>
              <a:t>9600 bit/s budget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3090672"/>
            <a:ext cx="784098" cy="384048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04338" y="3383280"/>
            <a:ext cx="1456182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0520" y="3090672"/>
            <a:ext cx="784098" cy="384048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44618" y="3383280"/>
            <a:ext cx="1456182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090672"/>
            <a:ext cx="784098" cy="384048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84898" y="3383280"/>
            <a:ext cx="1456182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41080" y="3090672"/>
            <a:ext cx="784098" cy="384048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25178" y="3383280"/>
            <a:ext cx="1456182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54512" y="3035808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0073A6"/>
                </a:solidFill>
                <a:latin typeface="Arial"/>
              </a:rPr>
              <a:t>35%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078224"/>
            <a:ext cx="12344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31A22"/>
                </a:solidFill>
                <a:latin typeface="Arial"/>
              </a:rPr>
              <a:t>Line terminator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4169664"/>
            <a:ext cx="1680210" cy="384048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00450" y="4462272"/>
            <a:ext cx="560070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60520" y="4169664"/>
            <a:ext cx="1680210" cy="384048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40730" y="4462272"/>
            <a:ext cx="560070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4169664"/>
            <a:ext cx="1680210" cy="384048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81010" y="4462272"/>
            <a:ext cx="560070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41080" y="4169664"/>
            <a:ext cx="1680210" cy="384048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321290" y="4462272"/>
            <a:ext cx="560070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54512" y="4114800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0073A6"/>
                </a:solidFill>
                <a:latin typeface="Arial"/>
              </a:rPr>
              <a:t>75%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5596128"/>
            <a:ext cx="10835640" cy="475488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696712"/>
            <a:ext cx="1037844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Sender and receiver must agree on baud, framing and line termination; otherwise text may be garbled or commands remain buffered.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41" name="Oval 40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19</a:t>
            </a:r>
          </a:p>
        </p:txBody>
      </p:sp>
    </p:spTree>
  </p:cSld>
  <p:transition spd="fast">
    <p:fade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73A6"/>
                </a:solidFill>
                <a:latin typeface="Arial"/>
              </a:rPr>
              <a:t>RUNNABLE CODE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Line-Oriented Serial Parser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7040880" cy="4443984"/>
          </a:xfrm>
          <a:prstGeom prst="round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6565392" cy="39776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D7F9F1"/>
                </a:solidFill>
                <a:latin typeface="Courier New"/>
              </a:rPr>
              <a:t>String command;
bool ledOn = false;
void applyOutput() {
  digitalWrite(LED_BUILTIN, ledOn ? HIGH : LOW);
}
void setup() {
  pinMode(LED_BUILTIN, OUTPUT);
  applyOutput();
  Serial.begin(9600);
  Serial.println("READY: ON | OFF | STATUS");
}
void loop() {
  if (Serial.available() == 0) return;
  command = Serial.readStringUntil('\n');
  command.trim();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3568" y="1755648"/>
            <a:ext cx="3602736" cy="4443984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0073A6"/>
                </a:solidFill>
                <a:latin typeface="Arial"/>
              </a:rPr>
              <a:t>READ THE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8229600" y="2587752"/>
            <a:ext cx="310896" cy="310896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606040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5088" y="2569464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readStringUntil('\n') defines one command frame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0" y="3429000"/>
            <a:ext cx="310896" cy="310896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447288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5088" y="3410712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trim() removes CR/LF residue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0" y="4270248"/>
            <a:ext cx="310896" cy="310896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288536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4251960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Unknown commands return ERR without changing output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0" y="5111496"/>
            <a:ext cx="310896" cy="310896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5129783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5093208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Maintained ledOn state makes STATUS truthful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5" name="Oval 24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20</a:t>
            </a:r>
          </a:p>
        </p:txBody>
      </p:sp>
    </p:spTree>
  </p:cSld>
  <p:transition spd="fast">
    <p:fade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73A6"/>
                </a:solidFill>
                <a:latin typeface="Arial"/>
              </a:rPr>
              <a:t>OBSERVE -&gt; COMPARE -&gt;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Upload and Runtime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1828800"/>
            <a:ext cx="1965960" cy="530352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65960"/>
            <a:ext cx="174650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660904" y="1828800"/>
            <a:ext cx="2971800" cy="530352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0632" y="1965960"/>
            <a:ext cx="275234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EXPECTED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2704" y="1828800"/>
            <a:ext cx="2971800" cy="530352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42432" y="1965960"/>
            <a:ext cx="275234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04504" y="1828800"/>
            <a:ext cx="2834640" cy="530352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1965960"/>
            <a:ext cx="261518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DECISION / 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" y="2359152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478024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Compile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60904" y="2359152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0632" y="2478024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Binary produced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32704" y="2359152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2478024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Compiler errors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04504" y="2359152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478024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Fix syntax/library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" y="3346704"/>
            <a:ext cx="196596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465576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Port open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60904" y="3346704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70632" y="3465576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Board enumerates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32704" y="3346704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42432" y="3465576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No serial 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04504" y="3346704"/>
            <a:ext cx="283464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3465576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Cable/driver/permissions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" y="4334256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453128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Upload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0904" y="4334256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0632" y="4453128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avrdude success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32704" y="4334256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42432" y="4453128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Timeout / sync error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04504" y="4334256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14232" y="4453128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Board/port/reset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4944" y="5321808"/>
            <a:ext cx="196596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5440680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Runtime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60904" y="5321808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70632" y="5440680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Expected LED/Serial trace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32704" y="5321808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42432" y="5440680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Wrong output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04504" y="5321808"/>
            <a:ext cx="283464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14232" y="5440680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State/timing/wiring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49" name="Oval 48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21</a:t>
            </a:r>
          </a:p>
        </p:txBody>
      </p:sp>
    </p:spTree>
  </p:cSld>
  <p:transition spd="fast">
    <p:fade/>
  </p:transition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73A6"/>
                </a:solidFill>
                <a:latin typeface="Arial"/>
              </a:rPr>
              <a:t>PRACTICE BRIDGE  | 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Lab 1: Board Check and Deterministic Blink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675120" cy="18288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6126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0073A6"/>
                </a:solidFill>
                <a:latin typeface="Arial"/>
              </a:rPr>
              <a:t>MECHANISM TO PROVE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612648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31A22"/>
                </a:solidFill>
                <a:latin typeface="Arial"/>
              </a:rPr>
              <a:t>Validate the Arduino Uno/Maker UNO toolchain and prove deterministic digital output timing.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783080"/>
            <a:ext cx="3931920" cy="1828800"/>
          </a:xfrm>
          <a:prstGeom prst="round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2011680"/>
            <a:ext cx="3383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7DE7D2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487168"/>
            <a:ext cx="3383280" cy="8961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A board-identification record and a 250 ms LED heartbeat that verifies compile, upload, reset, and loop execution.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0073A6"/>
                </a:solidFill>
                <a:latin typeface="Arial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LED_BUILTIN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30118" y="4727447"/>
            <a:ext cx="219456" cy="0"/>
          </a:xfrm>
          <a:prstGeom prst="line">
            <a:avLst/>
          </a:prstGeom>
          <a:ln w="21590">
            <a:solidFill>
              <a:srgbClr val="007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49574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6734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0073A6"/>
                </a:solidFill>
                <a:latin typeface="Arial"/>
              </a:rPr>
              <a:t>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6734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const uint8_t LED_PIN = LED_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4727447"/>
            <a:ext cx="219456" cy="0"/>
          </a:xfrm>
          <a:prstGeom prst="line">
            <a:avLst/>
          </a:prstGeom>
          <a:ln w="21590">
            <a:solidFill>
              <a:srgbClr val="007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13348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508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0073A6"/>
                </a:solidFill>
                <a:latin typeface="Arial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508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Sketch compiles with no error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57666" y="4727447"/>
            <a:ext cx="219456" cy="0"/>
          </a:xfrm>
          <a:prstGeom prst="line">
            <a:avLst/>
          </a:prstGeom>
          <a:ln w="21590">
            <a:solidFill>
              <a:srgbClr val="007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77122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14282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0073A6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4282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Measured ten-cycle duration is approximately 5 seconds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30" name="Oval 29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22</a:t>
            </a:r>
          </a:p>
        </p:txBody>
      </p:sp>
    </p:spTree>
  </p:cSld>
  <p:transition spd="fast">
    <p:fade/>
  </p:transition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73A6"/>
                </a:solidFill>
                <a:latin typeface="Arial"/>
              </a:rPr>
              <a:t>RUNNABLE CODE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Lab 1 Evidence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7040880" cy="4443984"/>
          </a:xfrm>
          <a:prstGeom prst="round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6565392" cy="39776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D7F9F1"/>
                </a:solidFill>
                <a:latin typeface="Courier New"/>
              </a:rPr>
              <a:t>const uint8_t LED_PIN = LED_BUILTIN;
const unsigned long INTERVAL_MS = 250;
void setup() {
  pinMode(LED_PIN, OUTPUT);
}
void loop() {
  digitalWrite(LED_PIN, HIGH);
  delay(INTERVAL_MS);
  digitalWrite(LED_PIN, LOW);
  delay(INTERVAL_MS);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3568" y="1755648"/>
            <a:ext cx="3602736" cy="4443984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0073A6"/>
                </a:solidFill>
                <a:latin typeface="Arial"/>
              </a:rPr>
              <a:t>READ THE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8229600" y="2587752"/>
            <a:ext cx="310896" cy="310896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606040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5088" y="2569464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LED_BUILTIN avoids board-specific hard-coding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0" y="3429000"/>
            <a:ext cx="310896" cy="310896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447288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5088" y="3410712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pinMode establishes the output contract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0" y="4270248"/>
            <a:ext cx="310896" cy="310896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288536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4251960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HIGH/LOW create two observable states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0" y="5111496"/>
            <a:ext cx="310896" cy="310896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5129783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5093208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Timing evidence is measured across ten cycles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5" name="Oval 24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23</a:t>
            </a:r>
          </a:p>
        </p:txBody>
      </p:sp>
    </p:spTree>
  </p:cSld>
  <p:transition spd="fast">
    <p:fade/>
  </p:transition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73A6"/>
                </a:solidFill>
                <a:latin typeface="Arial"/>
              </a:rPr>
              <a:t>OBSERVE -&gt; COMPARE -&gt;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Lab 1 Acceptance and Failure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1828800"/>
            <a:ext cx="1965960" cy="530352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65960"/>
            <a:ext cx="174650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660904" y="1828800"/>
            <a:ext cx="2971800" cy="530352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0632" y="1965960"/>
            <a:ext cx="275234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EXPECTED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2704" y="1828800"/>
            <a:ext cx="2971800" cy="530352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42432" y="1965960"/>
            <a:ext cx="275234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04504" y="1828800"/>
            <a:ext cx="2834640" cy="530352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1965960"/>
            <a:ext cx="261518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DECISION / 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" y="2359152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478024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Compile/upload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60904" y="2359152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0632" y="2478024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No errors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32704" y="2359152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2478024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Pass/fail 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04504" y="2359152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478024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Fix toolchain before wiring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" y="3346704"/>
            <a:ext cx="196596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465576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Period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60904" y="3346704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70632" y="3465576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500 ms per cycle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32704" y="3346704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42432" y="3465576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Ten cycles approx 5 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04504" y="3346704"/>
            <a:ext cx="283464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3465576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Check millisecond units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" y="4334256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453128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Reset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0904" y="4334256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0632" y="4453128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Heartbeat restarts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32704" y="4334256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42432" y="4453128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Visible reset sequence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04504" y="4334256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14232" y="4453128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Confirms setup() reruns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41" name="Oval 40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24</a:t>
            </a:r>
          </a:p>
        </p:txBody>
      </p:sp>
    </p:spTree>
  </p:cSld>
  <p:transition spd="fast">
    <p:fade/>
  </p:transition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73A6"/>
                </a:solidFill>
                <a:latin typeface="Arial"/>
              </a:rPr>
              <a:t>PRACTICE BRIDGE  | 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Lab 2: Serial Command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675120" cy="18288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6126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0073A6"/>
                </a:solidFill>
                <a:latin typeface="Arial"/>
              </a:rPr>
              <a:t>MECHANISM TO PROVE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612648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31A22"/>
                </a:solidFill>
                <a:latin typeface="Arial"/>
              </a:rPr>
              <a:t>Trace UART data from a typed ASCII command to a validated output state.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783080"/>
            <a:ext cx="3931920" cy="1828800"/>
          </a:xfrm>
          <a:prstGeom prst="round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2011680"/>
            <a:ext cx="3383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7DE7D2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487168"/>
            <a:ext cx="3383280" cy="8961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A line-oriented command parser that accepts ON, OFF, and STATUS without blocking indefinitely.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0073A6"/>
                </a:solidFill>
                <a:latin typeface="Arial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LED_BUILTIN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30118" y="4727447"/>
            <a:ext cx="219456" cy="0"/>
          </a:xfrm>
          <a:prstGeom prst="line">
            <a:avLst/>
          </a:prstGeom>
          <a:ln w="21590">
            <a:solidFill>
              <a:srgbClr val="007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49574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6734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0073A6"/>
                </a:solidFill>
                <a:latin typeface="Arial"/>
              </a:rPr>
              <a:t>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6734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String command;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4727447"/>
            <a:ext cx="219456" cy="0"/>
          </a:xfrm>
          <a:prstGeom prst="line">
            <a:avLst/>
          </a:prstGeom>
          <a:ln w="21590">
            <a:solidFill>
              <a:srgbClr val="007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13348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508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0073A6"/>
                </a:solidFill>
                <a:latin typeface="Arial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508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ON lights the LED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57666" y="4727447"/>
            <a:ext cx="219456" cy="0"/>
          </a:xfrm>
          <a:prstGeom prst="line">
            <a:avLst/>
          </a:prstGeom>
          <a:ln w="21590">
            <a:solidFill>
              <a:srgbClr val="007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77122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14282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0073A6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4282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Unknown input returns ERR without changing output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30" name="Oval 29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25</a:t>
            </a:r>
          </a:p>
        </p:txBody>
      </p:sp>
    </p:spTree>
  </p:cSld>
  <p:transition spd="fast">
    <p:fade/>
  </p:transition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73A6"/>
                </a:solidFill>
                <a:latin typeface="Arial"/>
              </a:rPr>
              <a:t>EDITABLE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Lab 2 Command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21792" y="2496312"/>
            <a:ext cx="1316736" cy="1316736"/>
          </a:xfrm>
          <a:prstGeom prst="ellipse">
            <a:avLst/>
          </a:prstGeom>
          <a:solidFill>
            <a:srgbClr val="F4F7F9"/>
          </a:solidFill>
          <a:ln>
            <a:solidFill>
              <a:srgbClr val="007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2834640"/>
            <a:ext cx="11704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73A6"/>
                </a:solidFill>
                <a:latin typeface="Arial"/>
              </a:rPr>
              <a:t>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3246120"/>
            <a:ext cx="1207008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80" b="0">
                <a:solidFill>
                  <a:srgbClr val="131A22"/>
                </a:solidFill>
                <a:latin typeface="Arial"/>
              </a:rPr>
              <a:t>safe default</a:t>
            </a:r>
          </a:p>
        </p:txBody>
      </p:sp>
      <p:sp>
        <p:nvSpPr>
          <p:cNvPr id="9" name="Oval 8"/>
          <p:cNvSpPr/>
          <p:nvPr/>
        </p:nvSpPr>
        <p:spPr>
          <a:xfrm>
            <a:off x="5513832" y="2496312"/>
            <a:ext cx="1316736" cy="1316736"/>
          </a:xfrm>
          <a:prstGeom prst="ellipse">
            <a:avLst/>
          </a:prstGeom>
          <a:solidFill>
            <a:srgbClr val="F4F7F9"/>
          </a:solidFill>
          <a:ln>
            <a:solidFill>
              <a:srgbClr val="007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86984" y="2834640"/>
            <a:ext cx="11704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73A6"/>
                </a:solidFill>
                <a:latin typeface="Arial"/>
              </a:rPr>
              <a:t>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68696" y="3246120"/>
            <a:ext cx="1207008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80" b="0">
                <a:solidFill>
                  <a:srgbClr val="131A22"/>
                </a:solidFill>
                <a:latin typeface="Arial"/>
              </a:rPr>
              <a:t>LED HIGH</a:t>
            </a:r>
          </a:p>
        </p:txBody>
      </p:sp>
      <p:sp>
        <p:nvSpPr>
          <p:cNvPr id="12" name="Oval 11"/>
          <p:cNvSpPr/>
          <p:nvPr/>
        </p:nvSpPr>
        <p:spPr>
          <a:xfrm>
            <a:off x="10405872" y="2496312"/>
            <a:ext cx="1316736" cy="1316736"/>
          </a:xfrm>
          <a:prstGeom prst="ellipse">
            <a:avLst/>
          </a:prstGeom>
          <a:solidFill>
            <a:srgbClr val="F4F7F9"/>
          </a:solidFill>
          <a:ln>
            <a:solidFill>
              <a:srgbClr val="007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79024" y="2834640"/>
            <a:ext cx="11704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73A6"/>
                </a:solidFill>
                <a:latin typeface="Arial"/>
              </a:rPr>
              <a:t>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0736" y="3246120"/>
            <a:ext cx="1207008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80" b="0">
                <a:solidFill>
                  <a:srgbClr val="131A22"/>
                </a:solidFill>
                <a:latin typeface="Arial"/>
              </a:rPr>
              <a:t>no state change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65960" y="3154680"/>
            <a:ext cx="3520440" cy="0"/>
          </a:xfrm>
          <a:prstGeom prst="line">
            <a:avLst/>
          </a:prstGeom>
          <a:ln w="25400">
            <a:solidFill>
              <a:srgbClr val="007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31820" y="2560320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1">
                <a:solidFill>
                  <a:srgbClr val="576470"/>
                </a:solidFill>
                <a:latin typeface="Arial"/>
              </a:rPr>
              <a:t>ON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594360" y="3154680"/>
            <a:ext cx="6263640" cy="0"/>
          </a:xfrm>
          <a:prstGeom prst="line">
            <a:avLst/>
          </a:prstGeom>
          <a:ln w="25400">
            <a:solidFill>
              <a:srgbClr val="007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31820" y="2560320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1">
                <a:solidFill>
                  <a:srgbClr val="576470"/>
                </a:solidFill>
                <a:latin typeface="Arial"/>
              </a:rPr>
              <a:t>OFF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65960" y="3154680"/>
            <a:ext cx="8412480" cy="0"/>
          </a:xfrm>
          <a:prstGeom prst="line">
            <a:avLst/>
          </a:prstGeom>
          <a:ln w="25400">
            <a:solidFill>
              <a:srgbClr val="007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577840" y="2560320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1">
                <a:solidFill>
                  <a:srgbClr val="576470"/>
                </a:solidFill>
                <a:latin typeface="Arial"/>
              </a:rPr>
              <a:t>STATUS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0" y="3154680"/>
            <a:ext cx="3520440" cy="0"/>
          </a:xfrm>
          <a:prstGeom prst="line">
            <a:avLst/>
          </a:prstGeom>
          <a:ln w="25400">
            <a:solidFill>
              <a:srgbClr val="007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023860" y="2560320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1">
                <a:solidFill>
                  <a:srgbClr val="576470"/>
                </a:solidFill>
                <a:latin typeface="Arial"/>
              </a:rPr>
              <a:t>STATUS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074920"/>
            <a:ext cx="10287000" cy="64008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5285232"/>
            <a:ext cx="98755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1">
                <a:solidFill>
                  <a:srgbClr val="131A22"/>
                </a:solidFill>
                <a:latin typeface="Arial"/>
              </a:rPr>
              <a:t>A state machine makes every output, entry condition, exit condition, and safe default inspectable.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8" name="Oval 27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26</a:t>
            </a:r>
          </a:p>
        </p:txBody>
      </p:sp>
    </p:spTree>
  </p:cSld>
  <p:transition spd="fast">
    <p:fade/>
  </p:transition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73A6"/>
                </a:solidFill>
                <a:latin typeface="Arial"/>
              </a:rPr>
              <a:t>OBSERVE -&gt; COMPARE -&gt;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Lab 2 Acceptance and Failure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1828800"/>
            <a:ext cx="1965960" cy="530352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65960"/>
            <a:ext cx="174650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660904" y="1828800"/>
            <a:ext cx="2971800" cy="530352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0632" y="1965960"/>
            <a:ext cx="275234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EXPECTED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2704" y="1828800"/>
            <a:ext cx="2971800" cy="530352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42432" y="1965960"/>
            <a:ext cx="275234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04504" y="1828800"/>
            <a:ext cx="2834640" cy="530352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1965960"/>
            <a:ext cx="261518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DECISION / 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" y="2359152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478024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60904" y="2359152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0632" y="2478024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LED=ON + light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32704" y="2359152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2478024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Observed trace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04504" y="2359152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478024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State and output agree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" y="3346704"/>
            <a:ext cx="196596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465576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60904" y="3346704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70632" y="3465576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LED=OFF + dark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32704" y="3346704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42432" y="3465576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Observed trace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04504" y="3346704"/>
            <a:ext cx="283464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3465576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State and output agree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" y="4334256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453128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BAD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0904" y="4334256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0632" y="4453128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ERR, no change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32704" y="4334256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42432" y="4453128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Observed trace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04504" y="4334256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14232" y="4453128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Parser rejects safely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41" name="Oval 40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7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27</a:t>
            </a:r>
          </a:p>
        </p:txBody>
      </p:sp>
    </p:spTree>
  </p:cSld>
  <p:transition spd="fast">
    <p:fade/>
  </p:transition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594360"/>
            <a:ext cx="1417320" cy="1417320"/>
          </a:xfrm>
          <a:prstGeom prst="ellipse">
            <a:avLst/>
          </a:prstGeom>
          <a:solidFill>
            <a:srgbClr val="F4F7F9"/>
          </a:solidFill>
          <a:ln>
            <a:solidFill>
              <a:srgbClr val="E97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38360" y="676656"/>
            <a:ext cx="141732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800" b="1">
                <a:solidFill>
                  <a:srgbClr val="E9722B"/>
                </a:solidFill>
                <a:latin typeface="Aria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E9722B"/>
                </a:solidFill>
                <a:latin typeface="Arial"/>
              </a:rPr>
              <a:t>TOPIC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978408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131A22"/>
                </a:solidFill>
                <a:latin typeface="Arial"/>
              </a:rPr>
              <a:t>Introduction to Basic Electronics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977639"/>
            <a:ext cx="932688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576470"/>
                </a:solidFill>
                <a:latin typeface="Arial"/>
              </a:rPr>
              <a:t>Voltage, current, resistance, breadboards, digital thresholds, pull-ups, debounce, PWM, and protected loads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12" name="Oval 11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28</a:t>
            </a:r>
          </a:p>
        </p:txBody>
      </p:sp>
    </p:spTree>
  </p:cSld>
  <p:transition spd="med">
    <p:push/>
  </p:transition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E9722B"/>
                </a:solidFill>
                <a:latin typeface="Arial"/>
              </a:rPr>
              <a:t>WORKED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LED Current-Limit Resistor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4617720" cy="1874519"/>
          </a:xfrm>
          <a:prstGeom prst="round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04288"/>
            <a:ext cx="40690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rial"/>
              </a:rPr>
              <a:t>R = (Vsource - Vf) / 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828800"/>
            <a:ext cx="5943600" cy="1874519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80" y="205740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E9722B"/>
                </a:solidFill>
                <a:latin typeface="Arial"/>
              </a:rPr>
              <a:t>SUBSTITUTE REAL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2578608"/>
            <a:ext cx="530352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>
                <a:solidFill>
                  <a:srgbClr val="131A22"/>
                </a:solidFill>
                <a:latin typeface="Arial"/>
              </a:rPr>
              <a:t>R = (5.0 V - 2.0 V) / 0.010 A = 300 ohm -&gt; choose 330 ohm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096512"/>
            <a:ext cx="3429000" cy="16002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4315968"/>
            <a:ext cx="2971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E9722B"/>
                </a:solidFill>
                <a:latin typeface="Arial"/>
              </a:rPr>
              <a:t>Voltage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736592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131A22"/>
                </a:solidFill>
                <a:latin typeface="Arial"/>
              </a:rPr>
              <a:t>Resistor drops about 3 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6552" y="4096512"/>
            <a:ext cx="3429000" cy="16002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4315968"/>
            <a:ext cx="2971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E9722B"/>
                </a:solidFill>
                <a:latin typeface="Arial"/>
              </a:rPr>
              <a:t>Current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736592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131A22"/>
                </a:solidFill>
                <a:latin typeface="Arial"/>
              </a:rPr>
              <a:t>About 9 mA with 330 ohm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4" y="4096512"/>
            <a:ext cx="3429000" cy="16002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2" y="4315968"/>
            <a:ext cx="2971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E9722B"/>
                </a:solidFill>
                <a:latin typeface="Arial"/>
              </a:rPr>
              <a:t>Power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4736592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131A22"/>
                </a:solidFill>
                <a:latin typeface="Arial"/>
              </a:rPr>
              <a:t>P = I^2R approx 0.027 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3" name="Oval 22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29</a:t>
            </a:r>
          </a:p>
        </p:txBody>
      </p:sp>
    </p:spTree>
  </p:cSld>
  <p:transition spd="fast">
    <p:fade/>
  </p:transition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E9722B"/>
                </a:solidFill>
                <a:latin typeface="Arial"/>
              </a:rPr>
              <a:t>DECISION /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Series vs Parallel Circuits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257800" cy="443484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75104"/>
            <a:ext cx="47548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E9722B"/>
                </a:solidFill>
                <a:latin typeface="Arial"/>
              </a:rPr>
              <a:t>SERIES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542032"/>
            <a:ext cx="292608" cy="292608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4168" y="2523744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31A22"/>
                </a:solidFill>
                <a:latin typeface="Arial"/>
              </a:rPr>
              <a:t>Current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852927"/>
            <a:ext cx="4251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576470"/>
                </a:solidFill>
                <a:latin typeface="Arial"/>
              </a:rPr>
              <a:t>Same current through each element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456432"/>
            <a:ext cx="292608" cy="292608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3438144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31A22"/>
                </a:solidFill>
                <a:latin typeface="Arial"/>
              </a:rPr>
              <a:t>Voltage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3767328"/>
            <a:ext cx="4251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576470"/>
                </a:solidFill>
                <a:latin typeface="Arial"/>
              </a:rPr>
              <a:t>Drops add to source voltage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370831"/>
            <a:ext cx="292608" cy="292608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44168" y="4352544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31A22"/>
                </a:solidFill>
                <a:latin typeface="Arial"/>
              </a:rPr>
              <a:t>Open fault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4681727"/>
            <a:ext cx="4251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576470"/>
                </a:solidFill>
                <a:latin typeface="Arial"/>
              </a:rPr>
              <a:t>Breaks the whole path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285231"/>
            <a:ext cx="292608" cy="292608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44168" y="5266944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31A22"/>
                </a:solidFill>
                <a:latin typeface="Arial"/>
              </a:rPr>
              <a:t>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5596127"/>
            <a:ext cx="4251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576470"/>
                </a:solidFill>
                <a:latin typeface="Arial"/>
              </a:rPr>
              <a:t>LED + current-limit resistor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755648"/>
            <a:ext cx="5257800" cy="443484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975104"/>
            <a:ext cx="47548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008A68"/>
                </a:solidFill>
                <a:latin typeface="Arial"/>
              </a:rPr>
              <a:t>PARALLEL</a:t>
            </a:r>
          </a:p>
        </p:txBody>
      </p:sp>
      <p:sp>
        <p:nvSpPr>
          <p:cNvPr id="22" name="Oval 21"/>
          <p:cNvSpPr/>
          <p:nvPr/>
        </p:nvSpPr>
        <p:spPr>
          <a:xfrm>
            <a:off x="6519672" y="2542032"/>
            <a:ext cx="292608" cy="292608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2523744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31A22"/>
                </a:solidFill>
                <a:latin typeface="Arial"/>
              </a:rPr>
              <a:t>Voltage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852927"/>
            <a:ext cx="4251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576470"/>
                </a:solidFill>
                <a:latin typeface="Arial"/>
              </a:rPr>
              <a:t>Same voltage across branches</a:t>
            </a:r>
          </a:p>
        </p:txBody>
      </p:sp>
      <p:sp>
        <p:nvSpPr>
          <p:cNvPr id="25" name="Oval 24"/>
          <p:cNvSpPr/>
          <p:nvPr/>
        </p:nvSpPr>
        <p:spPr>
          <a:xfrm>
            <a:off x="6519672" y="3456432"/>
            <a:ext cx="292608" cy="292608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438144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31A22"/>
                </a:solidFill>
                <a:latin typeface="Arial"/>
              </a:rPr>
              <a:t>Current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767328"/>
            <a:ext cx="4251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576470"/>
                </a:solidFill>
                <a:latin typeface="Arial"/>
              </a:rPr>
              <a:t>Branch currents add</a:t>
            </a:r>
          </a:p>
        </p:txBody>
      </p:sp>
      <p:sp>
        <p:nvSpPr>
          <p:cNvPr id="28" name="Oval 27"/>
          <p:cNvSpPr/>
          <p:nvPr/>
        </p:nvSpPr>
        <p:spPr>
          <a:xfrm>
            <a:off x="6519672" y="4370831"/>
            <a:ext cx="292608" cy="292608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4352544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31A22"/>
                </a:solidFill>
                <a:latin typeface="Arial"/>
              </a:rPr>
              <a:t>Open fault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681727"/>
            <a:ext cx="4251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576470"/>
                </a:solidFill>
                <a:latin typeface="Arial"/>
              </a:rPr>
              <a:t>Other branches may continue</a:t>
            </a:r>
          </a:p>
        </p:txBody>
      </p:sp>
      <p:sp>
        <p:nvSpPr>
          <p:cNvPr id="31" name="Oval 30"/>
          <p:cNvSpPr/>
          <p:nvPr/>
        </p:nvSpPr>
        <p:spPr>
          <a:xfrm>
            <a:off x="6519672" y="5285231"/>
            <a:ext cx="292608" cy="292608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5266944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31A22"/>
                </a:solidFill>
                <a:latin typeface="Arial"/>
              </a:rPr>
              <a:t>Example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596127"/>
            <a:ext cx="4251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576470"/>
                </a:solidFill>
                <a:latin typeface="Arial"/>
              </a:rPr>
              <a:t>Multiple independently driven loads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37" name="Oval 36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30</a:t>
            </a:r>
          </a:p>
        </p:txBody>
      </p:sp>
    </p:spTree>
  </p:cSld>
  <p:transition spd="fast">
    <p:fade/>
  </p:transition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E9722B"/>
                </a:solidFill>
                <a:latin typeface="Arial"/>
              </a:rPr>
              <a:t>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Breadboard Connectivity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64208"/>
            <a:ext cx="100584" cy="217170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73A6"/>
                </a:solidFill>
                <a:latin typeface="Arial"/>
              </a:rPr>
              <a:t>Terminal strips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Groups of five holes are internally common; the centre gap isolates sides.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1664208"/>
            <a:ext cx="100584" cy="217170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8A68"/>
                </a:solidFill>
                <a:latin typeface="Arial"/>
              </a:rPr>
              <a:t>Power 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Long rails distribute supply but may be split mid-board.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064508"/>
            <a:ext cx="100584" cy="217170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E9722B"/>
                </a:solidFill>
                <a:latin typeface="Arial"/>
              </a:rPr>
              <a:t>Cross-check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Use continuity mode before power when rail segmentation is uncertain.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064508"/>
            <a:ext cx="100584" cy="2171700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C53D43"/>
                </a:solidFill>
                <a:latin typeface="Arial"/>
              </a:rPr>
              <a:t>Failure signature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Same-row component legs can short a device or bypass a resistor.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5" name="Oval 24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31</a:t>
            </a:r>
          </a:p>
        </p:txBody>
      </p:sp>
    </p:spTree>
  </p:cSld>
  <p:transition spd="fast">
    <p:fade/>
  </p:transition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E9722B"/>
                </a:solidFill>
                <a:latin typeface="Arial"/>
              </a:rPr>
              <a:t>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Polarity and Component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64208"/>
            <a:ext cx="100584" cy="217170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E9722B"/>
                </a:solidFill>
                <a:latin typeface="Arial"/>
              </a:rPr>
              <a:t>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Anode to controlled positive path; cathode to return.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1664208"/>
            <a:ext cx="100584" cy="21717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6E56CF"/>
                </a:solidFill>
                <a:latin typeface="Arial"/>
              </a:rPr>
              <a:t>Diode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Cathode band identifies direction; flyback diode is reverse-biased normally.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064508"/>
            <a:ext cx="100584" cy="2171700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C53D43"/>
                </a:solidFill>
                <a:latin typeface="Arial"/>
              </a:rPr>
              <a:t>Electrolytic capacitor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Observe + and - markings; reverse polarity can damage the part.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064508"/>
            <a:ext cx="100584" cy="217170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8A68"/>
                </a:solidFill>
                <a:latin typeface="Arial"/>
              </a:rPr>
              <a:t>Transistor/MOSFET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Pin order varies by device; verify the datasheet, not package appearance.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5" name="Oval 24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32</a:t>
            </a:r>
          </a:p>
        </p:txBody>
      </p:sp>
    </p:spTree>
  </p:cSld>
  <p:transition spd="fast">
    <p:fade/>
  </p:transition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E9722B"/>
                </a:solidFill>
                <a:latin typeface="Arial"/>
              </a:rPr>
              <a:t>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Digital Input Thresholds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64208"/>
            <a:ext cx="100584" cy="217170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73A6"/>
                </a:solidFill>
                <a:latin typeface="Arial"/>
              </a:rPr>
              <a:t>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Voltage below the input-low threshold is read as logic 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1664208"/>
            <a:ext cx="100584" cy="217170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8A68"/>
                </a:solidFill>
                <a:latin typeface="Arial"/>
              </a:rP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Voltage above the input-high threshold is read as logic 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064508"/>
            <a:ext cx="100584" cy="217170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E9722B"/>
                </a:solidFill>
                <a:latin typeface="Arial"/>
              </a:rPr>
              <a:t>Undefined region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Intermediate voltage is not a valid logic contract.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064508"/>
            <a:ext cx="100584" cy="2171700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C53D43"/>
                </a:solidFill>
                <a:latin typeface="Arial"/>
              </a:rPr>
              <a:t>Floating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An unconnected high-impedance input can pick up noise and change randomly.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5" name="Oval 24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33</a:t>
            </a:r>
          </a:p>
        </p:txBody>
      </p:sp>
    </p:spTree>
  </p:cSld>
  <p:transition spd="fast">
    <p:fade/>
  </p:transition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E9722B"/>
                </a:solidFill>
                <a:latin typeface="Arial"/>
              </a:rPr>
              <a:t>SIGNAL / CONTROL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INPUT_PULLUP Signal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5880" y="2606040"/>
            <a:ext cx="658368" cy="658368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E9722B"/>
                </a:solidFill>
                <a:latin typeface="Arial"/>
              </a:rPr>
              <a:t>INTERNAL RESISTOR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Weak pull-up connects input to VCC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51760" y="3611880"/>
            <a:ext cx="228600" cy="0"/>
          </a:xfrm>
          <a:prstGeom prst="line">
            <a:avLst/>
          </a:prstGeom>
          <a:ln w="25400">
            <a:solidFill>
              <a:srgbClr val="E97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47872" y="2606040"/>
            <a:ext cx="658368" cy="658368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E9722B"/>
                </a:solidFill>
                <a:latin typeface="Arial"/>
              </a:rPr>
              <a:t>RELEASED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Input reads HIGH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611880"/>
            <a:ext cx="228600" cy="0"/>
          </a:xfrm>
          <a:prstGeom prst="line">
            <a:avLst/>
          </a:prstGeom>
          <a:ln w="25400">
            <a:solidFill>
              <a:srgbClr val="E97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02352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9864" y="2606040"/>
            <a:ext cx="658368" cy="658368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9864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E9722B"/>
                </a:solidFill>
                <a:latin typeface="Arial"/>
              </a:rPr>
              <a:t>PRESSED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Switch connects input to GND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95744" y="3611880"/>
            <a:ext cx="228600" cy="0"/>
          </a:xfrm>
          <a:prstGeom prst="line">
            <a:avLst/>
          </a:prstGeom>
          <a:ln w="25400">
            <a:solidFill>
              <a:srgbClr val="E97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24344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91856" y="2606040"/>
            <a:ext cx="658368" cy="658368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91856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E9722B"/>
                </a:solidFill>
                <a:latin typeface="Arial"/>
              </a:rPr>
              <a:t>SOFTWARE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Interpret LOW as active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17736" y="3611880"/>
            <a:ext cx="228600" cy="0"/>
          </a:xfrm>
          <a:prstGeom prst="line">
            <a:avLst/>
          </a:prstGeom>
          <a:ln w="25400">
            <a:solidFill>
              <a:srgbClr val="E97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46336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3848" y="2606040"/>
            <a:ext cx="658368" cy="658368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3848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4352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E9722B"/>
                </a:solidFill>
                <a:latin typeface="Arial"/>
              </a:rPr>
              <a:t>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4352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Raw + debounced states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38" name="Oval 37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34</a:t>
            </a:r>
          </a:p>
        </p:txBody>
      </p:sp>
    </p:spTree>
  </p:cSld>
  <p:transition spd="fast">
    <p:fade/>
  </p:transition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E9722B"/>
                </a:solidFill>
                <a:latin typeface="Arial"/>
              </a:rPr>
              <a:t>TIMING WAVEFORM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Mechanical Bounce vs Debounced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20240"/>
            <a:ext cx="12344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31A22"/>
                </a:solidFill>
                <a:latin typeface="Arial"/>
              </a:rPr>
              <a:t>Raw switch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2011680"/>
            <a:ext cx="1075334" cy="384048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95574" y="2304288"/>
            <a:ext cx="1164945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0520" y="2011680"/>
            <a:ext cx="1075334" cy="384048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35854" y="2304288"/>
            <a:ext cx="1164945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1075334" cy="384048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76134" y="2304288"/>
            <a:ext cx="1164945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41080" y="2011680"/>
            <a:ext cx="1075334" cy="384048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16414" y="2304288"/>
            <a:ext cx="1164945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54512" y="1956816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E9722B"/>
                </a:solidFill>
                <a:latin typeface="Arial"/>
              </a:rPr>
              <a:t>48%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999232"/>
            <a:ext cx="12344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31A22"/>
                </a:solidFill>
                <a:latin typeface="Arial"/>
              </a:rPr>
              <a:t>30 ms stable window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3090672"/>
            <a:ext cx="1680210" cy="384048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00450" y="3383280"/>
            <a:ext cx="560070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0520" y="3090672"/>
            <a:ext cx="1680210" cy="384048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40730" y="3383280"/>
            <a:ext cx="560070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090672"/>
            <a:ext cx="1680210" cy="384048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1010" y="3383280"/>
            <a:ext cx="560070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41080" y="3090672"/>
            <a:ext cx="1680210" cy="384048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321290" y="3383280"/>
            <a:ext cx="560070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54512" y="3035808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E9722B"/>
                </a:solidFill>
                <a:latin typeface="Arial"/>
              </a:rPr>
              <a:t>75%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078224"/>
            <a:ext cx="12344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31A22"/>
                </a:solidFill>
                <a:latin typeface="Arial"/>
              </a:rPr>
              <a:t>Accepted press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4169664"/>
            <a:ext cx="560070" cy="384048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480310" y="4462272"/>
            <a:ext cx="1680210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60520" y="4169664"/>
            <a:ext cx="560070" cy="384048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20590" y="4462272"/>
            <a:ext cx="1680210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4169664"/>
            <a:ext cx="560070" cy="384048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60870" y="4462272"/>
            <a:ext cx="1680210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41080" y="4169664"/>
            <a:ext cx="560070" cy="384048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01150" y="4462272"/>
            <a:ext cx="1680210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54512" y="4114800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E9722B"/>
                </a:solidFill>
                <a:latin typeface="Arial"/>
              </a:rPr>
              <a:t>25%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5596128"/>
            <a:ext cx="10835640" cy="475488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696712"/>
            <a:ext cx="1037844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The controller accepts a new state only after the raw input remains unchanged for the debounce interval.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41" name="Oval 40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35</a:t>
            </a:r>
          </a:p>
        </p:txBody>
      </p:sp>
    </p:spTree>
  </p:cSld>
  <p:transition spd="fast">
    <p:fade/>
  </p:transition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E9722B"/>
                </a:solidFill>
                <a:latin typeface="Arial"/>
              </a:rPr>
              <a:t>RUNNABLE CODE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Edge Detection and Debounce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7040880" cy="4443984"/>
          </a:xfrm>
          <a:prstGeom prst="round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6565392" cy="39776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D7F9F1"/>
                </a:solidFill>
                <a:latin typeface="Courier New"/>
              </a:rPr>
              <a:t>const uint8_t BUTTON_PIN = 2;
const uint8_t LED_PIN = 7;
const unsigned long DEBOUNCE_MS = 30;
bool ledOn = false;
bool stableState = HIGH;
bool lastRaw = HIGH;
unsigned long changedAt = 0;
void setup() {
  pinMode(BUTTON_PIN, INPUT_PULLUP);
  pinMode(LED_PIN, OUTPUT);
}
void loop() {
  bool raw = digitalRead(BUTTON_PIN);
  if (raw != lastRaw) { changedAt = millis(); lastRaw = raw; }
  if (millis() - changedAt &gt;= DEBOUNCE_MS &amp;&amp; raw != stableState) {
    stableState = raw;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3568" y="1755648"/>
            <a:ext cx="3602736" cy="4443984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E9722B"/>
                </a:solidFill>
                <a:latin typeface="Arial"/>
              </a:rPr>
              <a:t>READ THE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8229600" y="2587752"/>
            <a:ext cx="310896" cy="310896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606040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5088" y="2569464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lastRaw detects any electrical transition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0" y="3429000"/>
            <a:ext cx="310896" cy="310896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447288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5088" y="3410712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changedAt records when stability began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0" y="4270248"/>
            <a:ext cx="310896" cy="310896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288536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4251960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stableState changes only after 30 ms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0" y="5111496"/>
            <a:ext cx="310896" cy="310896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5129783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5093208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Only the confirmed falling edge toggles the LED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5" name="Oval 24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36</a:t>
            </a:r>
          </a:p>
        </p:txBody>
      </p:sp>
    </p:spTree>
  </p:cSld>
  <p:transition spd="fast">
    <p:fade/>
  </p:transition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E9722B"/>
                </a:solidFill>
                <a:latin typeface="Arial"/>
              </a:rPr>
              <a:t>TIMING WAVEFORM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PWM Duty 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20240"/>
            <a:ext cx="12344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31A22"/>
                </a:solidFill>
                <a:latin typeface="Arial"/>
              </a:rPr>
              <a:t>64 / 255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2011680"/>
            <a:ext cx="560070" cy="384048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80310" y="2304288"/>
            <a:ext cx="1680210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0520" y="2011680"/>
            <a:ext cx="560070" cy="384048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20590" y="2304288"/>
            <a:ext cx="1680210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560070" cy="384048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60870" y="2304288"/>
            <a:ext cx="1680210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41080" y="2011680"/>
            <a:ext cx="560070" cy="384048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01150" y="2304288"/>
            <a:ext cx="1680210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54512" y="1956816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E9722B"/>
                </a:solidFill>
                <a:latin typeface="Arial"/>
              </a:rPr>
              <a:t>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999232"/>
            <a:ext cx="12344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31A22"/>
                </a:solidFill>
                <a:latin typeface="Arial"/>
              </a:rPr>
              <a:t>128 / 255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3090672"/>
            <a:ext cx="1120140" cy="384048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40380" y="3383280"/>
            <a:ext cx="1120140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0520" y="3090672"/>
            <a:ext cx="1120140" cy="384048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80660" y="3383280"/>
            <a:ext cx="1120140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090672"/>
            <a:ext cx="1120140" cy="384048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20940" y="3383280"/>
            <a:ext cx="1120140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41080" y="3090672"/>
            <a:ext cx="1120140" cy="384048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61220" y="3383280"/>
            <a:ext cx="1120140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54512" y="3035808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E9722B"/>
                </a:solidFill>
                <a:latin typeface="Arial"/>
              </a:rPr>
              <a:t>50%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078224"/>
            <a:ext cx="12344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31A22"/>
                </a:solidFill>
                <a:latin typeface="Arial"/>
              </a:rPr>
              <a:t>192 / 255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4169664"/>
            <a:ext cx="1680210" cy="384048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00450" y="4462272"/>
            <a:ext cx="560070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60520" y="4169664"/>
            <a:ext cx="1680210" cy="384048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40730" y="4462272"/>
            <a:ext cx="560070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4169664"/>
            <a:ext cx="1680210" cy="384048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81010" y="4462272"/>
            <a:ext cx="560070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41080" y="4169664"/>
            <a:ext cx="1680210" cy="384048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321290" y="4462272"/>
            <a:ext cx="560070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54512" y="4114800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E9722B"/>
                </a:solidFill>
                <a:latin typeface="Arial"/>
              </a:rPr>
              <a:t>75%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5596128"/>
            <a:ext cx="10835640" cy="475488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696712"/>
            <a:ext cx="1037844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On the classic Uno, analogWrite() produces PWM on supported pins; it is not a true analogue voltage.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41" name="Oval 40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37</a:t>
            </a:r>
          </a:p>
        </p:txBody>
      </p:sp>
    </p:spTree>
  </p:cSld>
  <p:transition spd="fast">
    <p:fade/>
  </p:transition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E9722B"/>
                </a:solidFill>
                <a:latin typeface="Arial"/>
              </a:rPr>
              <a:t>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Uno PWM and Timer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64208"/>
            <a:ext cx="100584" cy="217170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73A6"/>
                </a:solidFill>
                <a:latin typeface="Arial"/>
              </a:rPr>
              <a:t>8-bit command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analogWrite value 0-255 maps to 0-100% duty cycle.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1664208"/>
            <a:ext cx="100584" cy="217170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8A68"/>
                </a:solidFill>
                <a:latin typeface="Arial"/>
              </a:rPr>
              <a:t>PWM pins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Classic Uno: D3, D5, D6, D9, D10, D11.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064508"/>
            <a:ext cx="100584" cy="217170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E9722B"/>
                </a:solidFill>
                <a:latin typeface="Arial"/>
              </a:rPr>
              <a:t>Timer sharing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Tone, Servo, and timing libraries can change timer availability/behaviour.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064508"/>
            <a:ext cx="100584" cy="2171700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C53D43"/>
                </a:solidFill>
                <a:latin typeface="Arial"/>
              </a:rPr>
              <a:t>Load boundary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PWM pin drives a control input; a transistor stage drives higher current.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5" name="Oval 24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38</a:t>
            </a:r>
          </a:p>
        </p:txBody>
      </p:sp>
    </p:spTree>
  </p:cSld>
  <p:transition spd="fast">
    <p:fade/>
  </p:transition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E9722B"/>
                </a:solidFill>
                <a:latin typeface="Arial"/>
              </a:rPr>
              <a:t>SIGNAL / CONTROL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Protected Inductive Load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5880" y="2606040"/>
            <a:ext cx="658368" cy="658368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E9722B"/>
                </a:solidFill>
                <a:latin typeface="Arial"/>
              </a:rPr>
              <a:t>GPIO/PWM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Low-current logic signal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51760" y="3611880"/>
            <a:ext cx="228600" cy="0"/>
          </a:xfrm>
          <a:prstGeom prst="line">
            <a:avLst/>
          </a:prstGeom>
          <a:ln w="25400">
            <a:solidFill>
              <a:srgbClr val="E97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47872" y="2606040"/>
            <a:ext cx="658368" cy="658368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E9722B"/>
                </a:solidFill>
                <a:latin typeface="Arial"/>
              </a:rPr>
              <a:t>GATE/BASE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Current-limited drive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611880"/>
            <a:ext cx="228600" cy="0"/>
          </a:xfrm>
          <a:prstGeom prst="line">
            <a:avLst/>
          </a:prstGeom>
          <a:ln w="25400">
            <a:solidFill>
              <a:srgbClr val="E97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02352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9864" y="2606040"/>
            <a:ext cx="658368" cy="658368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9864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E9722B"/>
                </a:solidFill>
                <a:latin typeface="Arial"/>
              </a:rPr>
              <a:t>MOSFET/TRANSISTOR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Switches motor current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95744" y="3611880"/>
            <a:ext cx="228600" cy="0"/>
          </a:xfrm>
          <a:prstGeom prst="line">
            <a:avLst/>
          </a:prstGeom>
          <a:ln w="25400">
            <a:solidFill>
              <a:srgbClr val="E97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24344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91856" y="2606040"/>
            <a:ext cx="658368" cy="658368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91856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E9722B"/>
                </a:solidFill>
                <a:latin typeface="Arial"/>
              </a:rPr>
              <a:t>FLYBACK DIODE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Clamps inductive voltage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17736" y="3611880"/>
            <a:ext cx="228600" cy="0"/>
          </a:xfrm>
          <a:prstGeom prst="line">
            <a:avLst/>
          </a:prstGeom>
          <a:ln w="25400">
            <a:solidFill>
              <a:srgbClr val="E97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46336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3848" y="2606040"/>
            <a:ext cx="658368" cy="658368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3848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4352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E9722B"/>
                </a:solidFill>
                <a:latin typeface="Arial"/>
              </a:rPr>
              <a:t>SUPPLY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4352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Separate load energy + common ground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38" name="Oval 37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39</a:t>
            </a:r>
          </a:p>
        </p:txBody>
      </p:sp>
    </p:spTree>
  </p:cSld>
  <p:transition spd="fast">
    <p:fade/>
  </p:transition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E9722B"/>
                </a:solidFill>
                <a:latin typeface="Arial"/>
              </a:rPr>
              <a:t>PRACTICE BRIDGE  | 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Lab 3: Safe LED Circuit and Ohm's Law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675120" cy="18288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6126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E9722B"/>
                </a:solidFill>
                <a:latin typeface="Arial"/>
              </a:rPr>
              <a:t>MECHANISM TO PROVE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612648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31A22"/>
                </a:solidFill>
                <a:latin typeface="Arial"/>
              </a:rPr>
              <a:t>Calculate and build a current-limited LED circuit within an Arduino digital pin's electrical boundary.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783080"/>
            <a:ext cx="3931920" cy="1828800"/>
          </a:xfrm>
          <a:prstGeom prst="round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2011680"/>
            <a:ext cx="3383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7DE7D2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487168"/>
            <a:ext cx="3383280" cy="8961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A documented 5 V digital-output circuit using a 330 ohm resistor and measured LED voltage.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E9722B"/>
                </a:solidFill>
                <a:latin typeface="Arial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D7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30118" y="4727447"/>
            <a:ext cx="219456" cy="0"/>
          </a:xfrm>
          <a:prstGeom prst="line">
            <a:avLst/>
          </a:prstGeom>
          <a:ln w="21590">
            <a:solidFill>
              <a:srgbClr val="E97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49574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6734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E9722B"/>
                </a:solidFill>
                <a:latin typeface="Arial"/>
              </a:rPr>
              <a:t>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6734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const uint8_t LED_PIN = 7;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4727447"/>
            <a:ext cx="219456" cy="0"/>
          </a:xfrm>
          <a:prstGeom prst="line">
            <a:avLst/>
          </a:prstGeom>
          <a:ln w="21590">
            <a:solidFill>
              <a:srgbClr val="E97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13348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508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E9722B"/>
                </a:solidFill>
                <a:latin typeface="Arial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508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LED polarity is correct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57666" y="4727447"/>
            <a:ext cx="219456" cy="0"/>
          </a:xfrm>
          <a:prstGeom prst="line">
            <a:avLst/>
          </a:prstGeom>
          <a:ln w="21590">
            <a:solidFill>
              <a:srgbClr val="E97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77122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14282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E9722B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4282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Calculated current remains close to or below 10 mA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30" name="Oval 29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40</a:t>
            </a:r>
          </a:p>
        </p:txBody>
      </p:sp>
    </p:spTree>
  </p:cSld>
  <p:transition spd="fast">
    <p:fade/>
  </p:transition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E9722B"/>
                </a:solidFill>
                <a:latin typeface="Arial"/>
              </a:rPr>
              <a:t>OBSERVE -&gt; COMPARE -&gt;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Lab 3 Electrical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1828800"/>
            <a:ext cx="1965960" cy="530352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65960"/>
            <a:ext cx="174650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660904" y="1828800"/>
            <a:ext cx="2971800" cy="530352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0632" y="1965960"/>
            <a:ext cx="275234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EXPECTED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2704" y="1828800"/>
            <a:ext cx="2971800" cy="530352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42432" y="1965960"/>
            <a:ext cx="275234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04504" y="1828800"/>
            <a:ext cx="2834640" cy="530352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1965960"/>
            <a:ext cx="261518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DECISION / 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" y="2359152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478024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R calc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60904" y="2359152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0632" y="2478024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300 ohm minimum target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32704" y="2359152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2478024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330 ohm fitted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04504" y="2359152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478024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Safe standard value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" y="3346704"/>
            <a:ext cx="196596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465576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LED Vf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60904" y="3346704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70632" y="3465576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Approx 1.8-2.2 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32704" y="3346704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42432" y="3465576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Multimeter value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04504" y="3346704"/>
            <a:ext cx="283464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3465576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Use resistor voltage for current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" y="4334256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453128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I/O state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0904" y="4334256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0632" y="4453128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D7 HIGH/LOW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32704" y="4334256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42432" y="4453128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LED ON/OFF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04504" y="4334256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14232" y="4453128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Pin contract proven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41" name="Oval 40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41</a:t>
            </a:r>
          </a:p>
        </p:txBody>
      </p:sp>
    </p:spTree>
  </p:cSld>
  <p:transition spd="fast">
    <p:fade/>
  </p:transition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E9722B"/>
                </a:solidFill>
                <a:latin typeface="Arial"/>
              </a:rPr>
              <a:t>PRACTICE BRIDGE  | 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Lab 4: Push Button with INPUT_PULLUP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675120" cy="18288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6126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E9722B"/>
                </a:solidFill>
                <a:latin typeface="Arial"/>
              </a:rPr>
              <a:t>MECHANISM TO PROVE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612648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31A22"/>
                </a:solidFill>
                <a:latin typeface="Arial"/>
              </a:rPr>
              <a:t>Eliminate a floating input and debounce a mechanical switch using a stable time window.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783080"/>
            <a:ext cx="3931920" cy="1828800"/>
          </a:xfrm>
          <a:prstGeom prst="round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2011680"/>
            <a:ext cx="3383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7DE7D2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487168"/>
            <a:ext cx="3383280" cy="8961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An active-LOW button that toggles an LED once per physical press without double triggers.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E9722B"/>
                </a:solidFill>
                <a:latin typeface="Arial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D2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30118" y="4727447"/>
            <a:ext cx="219456" cy="0"/>
          </a:xfrm>
          <a:prstGeom prst="line">
            <a:avLst/>
          </a:prstGeom>
          <a:ln w="21590">
            <a:solidFill>
              <a:srgbClr val="E97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49574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6734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E9722B"/>
                </a:solidFill>
                <a:latin typeface="Arial"/>
              </a:rPr>
              <a:t>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6734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const uint8_t BUTTON_PIN = 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4727447"/>
            <a:ext cx="219456" cy="0"/>
          </a:xfrm>
          <a:prstGeom prst="line">
            <a:avLst/>
          </a:prstGeom>
          <a:ln w="21590">
            <a:solidFill>
              <a:srgbClr val="E97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13348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508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E9722B"/>
                </a:solidFill>
                <a:latin typeface="Arial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508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Released input reads HIGH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57666" y="4727447"/>
            <a:ext cx="219456" cy="0"/>
          </a:xfrm>
          <a:prstGeom prst="line">
            <a:avLst/>
          </a:prstGeom>
          <a:ln w="21590">
            <a:solidFill>
              <a:srgbClr val="E97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77122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14282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E9722B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4282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Bounce within 30 ms does not create extra toggles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30" name="Oval 29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42</a:t>
            </a:r>
          </a:p>
        </p:txBody>
      </p:sp>
    </p:spTree>
  </p:cSld>
  <p:transition spd="fast">
    <p:fade/>
  </p:transition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E9722B"/>
                </a:solidFill>
                <a:latin typeface="Arial"/>
              </a:rPr>
              <a:t>EDITABLE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Lab 4 Debounced Button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21792" y="2496312"/>
            <a:ext cx="1316736" cy="1316736"/>
          </a:xfrm>
          <a:prstGeom prst="ellipse">
            <a:avLst/>
          </a:prstGeom>
          <a:solidFill>
            <a:srgbClr val="F4F7F9"/>
          </a:solidFill>
          <a:ln>
            <a:solidFill>
              <a:srgbClr val="E97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2834640"/>
            <a:ext cx="11704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E9722B"/>
                </a:solidFill>
                <a:latin typeface="Arial"/>
              </a:rPr>
              <a:t>RELEASED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3246120"/>
            <a:ext cx="1207008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80" b="0">
                <a:solidFill>
                  <a:srgbClr val="131A22"/>
                </a:solidFill>
                <a:latin typeface="Arial"/>
              </a:rPr>
              <a:t>HIGH</a:t>
            </a:r>
          </a:p>
        </p:txBody>
      </p:sp>
      <p:sp>
        <p:nvSpPr>
          <p:cNvPr id="9" name="Oval 8"/>
          <p:cNvSpPr/>
          <p:nvPr/>
        </p:nvSpPr>
        <p:spPr>
          <a:xfrm>
            <a:off x="3883152" y="2496312"/>
            <a:ext cx="1316736" cy="1316736"/>
          </a:xfrm>
          <a:prstGeom prst="ellipse">
            <a:avLst/>
          </a:prstGeom>
          <a:solidFill>
            <a:srgbClr val="F4F7F9"/>
          </a:solidFill>
          <a:ln>
            <a:solidFill>
              <a:srgbClr val="E97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56304" y="2834640"/>
            <a:ext cx="11704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E9722B"/>
                </a:solidFill>
                <a:latin typeface="Arial"/>
              </a:rPr>
              <a:t>CANDIDATE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8016" y="3246120"/>
            <a:ext cx="1207008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80" b="0">
                <a:solidFill>
                  <a:srgbClr val="131A22"/>
                </a:solidFill>
                <a:latin typeface="Arial"/>
              </a:rPr>
              <a:t>raw changed</a:t>
            </a:r>
          </a:p>
        </p:txBody>
      </p:sp>
      <p:sp>
        <p:nvSpPr>
          <p:cNvPr id="12" name="Oval 11"/>
          <p:cNvSpPr/>
          <p:nvPr/>
        </p:nvSpPr>
        <p:spPr>
          <a:xfrm>
            <a:off x="7144512" y="2496312"/>
            <a:ext cx="1316736" cy="1316736"/>
          </a:xfrm>
          <a:prstGeom prst="ellipse">
            <a:avLst/>
          </a:prstGeom>
          <a:solidFill>
            <a:srgbClr val="F4F7F9"/>
          </a:solidFill>
          <a:ln>
            <a:solidFill>
              <a:srgbClr val="E97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17664" y="2834640"/>
            <a:ext cx="11704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E9722B"/>
                </a:solidFill>
                <a:latin typeface="Arial"/>
              </a:rPr>
              <a:t>PRESSED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9376" y="3246120"/>
            <a:ext cx="1207008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80" b="0">
                <a:solidFill>
                  <a:srgbClr val="131A22"/>
                </a:solidFill>
                <a:latin typeface="Arial"/>
              </a:rPr>
              <a:t>LOW &gt;30 ms</a:t>
            </a:r>
          </a:p>
        </p:txBody>
      </p:sp>
      <p:sp>
        <p:nvSpPr>
          <p:cNvPr id="15" name="Oval 14"/>
          <p:cNvSpPr/>
          <p:nvPr/>
        </p:nvSpPr>
        <p:spPr>
          <a:xfrm>
            <a:off x="10405872" y="2496312"/>
            <a:ext cx="1316736" cy="1316736"/>
          </a:xfrm>
          <a:prstGeom prst="ellipse">
            <a:avLst/>
          </a:prstGeom>
          <a:solidFill>
            <a:srgbClr val="F4F7F9"/>
          </a:solidFill>
          <a:ln>
            <a:solidFill>
              <a:srgbClr val="E97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79024" y="2834640"/>
            <a:ext cx="11704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E9722B"/>
                </a:solidFill>
                <a:latin typeface="Arial"/>
              </a:rPr>
              <a:t>TOGGLED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0736" y="3246120"/>
            <a:ext cx="1207008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80" b="0">
                <a:solidFill>
                  <a:srgbClr val="131A22"/>
                </a:solidFill>
                <a:latin typeface="Arial"/>
              </a:rPr>
              <a:t>one output change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65960" y="3154680"/>
            <a:ext cx="1889760" cy="0"/>
          </a:xfrm>
          <a:prstGeom prst="line">
            <a:avLst/>
          </a:prstGeom>
          <a:ln w="25400">
            <a:solidFill>
              <a:srgbClr val="E97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316480" y="2560320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1">
                <a:solidFill>
                  <a:srgbClr val="576470"/>
                </a:solidFill>
                <a:latin typeface="Arial"/>
              </a:rPr>
              <a:t>edge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227320" y="3154680"/>
            <a:ext cx="1889760" cy="0"/>
          </a:xfrm>
          <a:prstGeom prst="line">
            <a:avLst/>
          </a:prstGeom>
          <a:ln w="25400">
            <a:solidFill>
              <a:srgbClr val="E97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577840" y="2560320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1">
                <a:solidFill>
                  <a:srgbClr val="576470"/>
                </a:solidFill>
                <a:latin typeface="Arial"/>
              </a:rPr>
              <a:t>stable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88680" y="3154680"/>
            <a:ext cx="1889760" cy="0"/>
          </a:xfrm>
          <a:prstGeom prst="line">
            <a:avLst/>
          </a:prstGeom>
          <a:ln w="25400">
            <a:solidFill>
              <a:srgbClr val="E97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839200" y="2560320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1">
                <a:solidFill>
                  <a:srgbClr val="576470"/>
                </a:solidFill>
                <a:latin typeface="Arial"/>
              </a:rPr>
              <a:t>falling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594360" y="3154680"/>
            <a:ext cx="11155680" cy="0"/>
          </a:xfrm>
          <a:prstGeom prst="line">
            <a:avLst/>
          </a:prstGeom>
          <a:ln w="25400">
            <a:solidFill>
              <a:srgbClr val="E97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577840" y="2560320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1">
                <a:solidFill>
                  <a:srgbClr val="576470"/>
                </a:solidFill>
                <a:latin typeface="Arial"/>
              </a:rPr>
              <a:t>release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074920"/>
            <a:ext cx="10287000" cy="64008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5285232"/>
            <a:ext cx="98755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1">
                <a:solidFill>
                  <a:srgbClr val="131A22"/>
                </a:solidFill>
                <a:latin typeface="Arial"/>
              </a:rPr>
              <a:t>A state machine makes every output, entry condition, exit condition, and safe default inspectable.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31" name="Oval 30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43</a:t>
            </a:r>
          </a:p>
        </p:txBody>
      </p:sp>
    </p:spTree>
  </p:cSld>
  <p:transition spd="fast">
    <p:fade/>
  </p:transition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E9722B"/>
                </a:solidFill>
                <a:latin typeface="Arial"/>
              </a:rPr>
              <a:t>PRACTICE BRIDGE  | 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Lab 5: PWM Fade with Non-blocking Timing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675120" cy="18288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6126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E9722B"/>
                </a:solidFill>
                <a:latin typeface="Arial"/>
              </a:rPr>
              <a:t>MECHANISM TO PROVE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612648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31A22"/>
                </a:solidFill>
                <a:latin typeface="Arial"/>
              </a:rPr>
              <a:t>Relate 8-bit PWM values to duty cycle and vary LED brightness without blocking other logic.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783080"/>
            <a:ext cx="3931920" cy="1828800"/>
          </a:xfrm>
          <a:prstGeom prst="round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2011680"/>
            <a:ext cx="3383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7DE7D2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487168"/>
            <a:ext cx="3383280" cy="8961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A triangular 0-255 PWM ramp on D9 with calculated duty-cycle checkpoints.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E9722B"/>
                </a:solidFill>
                <a:latin typeface="Arial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D9 (~)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30118" y="4727447"/>
            <a:ext cx="219456" cy="0"/>
          </a:xfrm>
          <a:prstGeom prst="line">
            <a:avLst/>
          </a:prstGeom>
          <a:ln w="21590">
            <a:solidFill>
              <a:srgbClr val="E97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49574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6734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E9722B"/>
                </a:solidFill>
                <a:latin typeface="Arial"/>
              </a:rPr>
              <a:t>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6734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const uint8_t LED_PIN = 9;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4727447"/>
            <a:ext cx="219456" cy="0"/>
          </a:xfrm>
          <a:prstGeom prst="line">
            <a:avLst/>
          </a:prstGeom>
          <a:ln w="21590">
            <a:solidFill>
              <a:srgbClr val="E97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13348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508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E9722B"/>
                </a:solidFill>
                <a:latin typeface="Arial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508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LED fades up and down continuously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57666" y="4727447"/>
            <a:ext cx="219456" cy="0"/>
          </a:xfrm>
          <a:prstGeom prst="line">
            <a:avLst/>
          </a:prstGeom>
          <a:ln w="21590">
            <a:solidFill>
              <a:srgbClr val="E97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77122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14282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E9722B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4282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Calculated 128 duty cycle is approximately 50%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30" name="Oval 29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44</a:t>
            </a:r>
          </a:p>
        </p:txBody>
      </p:sp>
    </p:spTree>
  </p:cSld>
  <p:transition spd="fast">
    <p:fade/>
  </p:transition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E9722B"/>
                </a:solidFill>
                <a:latin typeface="Arial"/>
              </a:rPr>
              <a:t>RUNNABLE CODE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Lab 5 Non-blocking PWM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7040880" cy="4443984"/>
          </a:xfrm>
          <a:prstGeom prst="round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6565392" cy="39776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D7F9F1"/>
                </a:solidFill>
                <a:latin typeface="Courier New"/>
              </a:rPr>
              <a:t>const uint8_t LED_PIN = 9;
const unsigned long UPDATE_MS = 20;
const int STEP = 5;
int brightness = 0;
int direction = STEP;
unsigned long lastUpdate = 0;
void setup() { pinMode(LED_PIN, OUTPUT); }
void loop() {
  if (millis() - lastUpdate &lt; UPDATE_MS) return;
  lastUpdate = millis();
  brightness += direction;
  if (brightness &gt;= 255) { brightness = 255; direction = -STEP; }
  if (brightness &lt;= 0) { brightness = 0; direction = STEP; }
  analogWrite(LED_PIN, brightness);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3568" y="1755648"/>
            <a:ext cx="3602736" cy="4443984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E9722B"/>
                </a:solidFill>
                <a:latin typeface="Arial"/>
              </a:rPr>
              <a:t>READ THE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8229600" y="2587752"/>
            <a:ext cx="310896" cy="310896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606040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5088" y="2569464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Elapsed-time test keeps loop responsive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0" y="3429000"/>
            <a:ext cx="310896" cy="310896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447288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5088" y="3410712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direction carries the ramp sign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0" y="4270248"/>
            <a:ext cx="310896" cy="310896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288536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4251960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Boundary clamp prevents wraparound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0" y="5111496"/>
            <a:ext cx="310896" cy="310896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5129783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5093208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analogWrite commits the 8-bit duty value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5" name="Oval 24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45</a:t>
            </a:r>
          </a:p>
        </p:txBody>
      </p:sp>
    </p:spTree>
  </p:cSld>
  <p:transition spd="fast">
    <p:fade/>
  </p:transition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E9722B"/>
                </a:solidFill>
                <a:latin typeface="Arial"/>
              </a:rPr>
              <a:t>OBSERVE -&gt; COMPARE -&gt;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Topic 2 Verification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1828800"/>
            <a:ext cx="1965960" cy="530352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65960"/>
            <a:ext cx="174650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660904" y="1828800"/>
            <a:ext cx="2971800" cy="530352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0632" y="1965960"/>
            <a:ext cx="275234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EXPECTED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2704" y="1828800"/>
            <a:ext cx="2971800" cy="530352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42432" y="1965960"/>
            <a:ext cx="275234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04504" y="1828800"/>
            <a:ext cx="2834640" cy="530352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1965960"/>
            <a:ext cx="261518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DECISION / 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" y="2359152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478024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Digital output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60904" y="2359152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0632" y="2478024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Safe LED current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32704" y="2359152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2478024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Measured resistor/Vf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04504" y="2359152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478024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Safe interconnection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" y="3346704"/>
            <a:ext cx="196596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465576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Digital input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60904" y="3346704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70632" y="3465576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Stable active-LOW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32704" y="3346704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42432" y="3465576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Raw vs debounced trace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04504" y="3346704"/>
            <a:ext cx="283464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3465576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Signal conditioning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" y="4334256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453128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PWM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0904" y="4334256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0632" y="4453128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0-255 bounded ramp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32704" y="4334256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42432" y="4453128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Duty checkpoints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04504" y="4334256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14232" y="4453128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PWM mechanism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41" name="Oval 40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E97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46</a:t>
            </a:r>
          </a:p>
        </p:txBody>
      </p:sp>
    </p:spTree>
  </p:cSld>
  <p:transition spd="fast">
    <p:fade/>
  </p:transition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594360"/>
            <a:ext cx="1417320" cy="1417320"/>
          </a:xfrm>
          <a:prstGeom prst="ellipse">
            <a:avLst/>
          </a:prstGeom>
          <a:solidFill>
            <a:srgbClr val="F4F7F9"/>
          </a:solidFill>
          <a:ln>
            <a:solidFill>
              <a:srgbClr val="00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38360" y="676656"/>
            <a:ext cx="141732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800" b="1">
                <a:solidFill>
                  <a:srgbClr val="008A68"/>
                </a:solidFill>
                <a:latin typeface="Aria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008A68"/>
                </a:solidFill>
                <a:latin typeface="Arial"/>
              </a:rPr>
              <a:t>TOPIC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978408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131A22"/>
                </a:solidFill>
                <a:latin typeface="Arial"/>
              </a:rPr>
              <a:t>Analogue Sensors and Transducers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977639"/>
            <a:ext cx="932688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576470"/>
                </a:solidFill>
                <a:latin typeface="Arial"/>
              </a:rPr>
              <a:t>Signal chains, 10-bit ADC, quantisation, calibration, filtering, LDR dividers, hysteresis, and servo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12" name="Oval 11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47</a:t>
            </a:r>
          </a:p>
        </p:txBody>
      </p:sp>
    </p:spTree>
  </p:cSld>
  <p:transition spd="med">
    <p:push/>
  </p:transition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8A68"/>
                </a:solidFill>
                <a:latin typeface="Arial"/>
              </a:rPr>
              <a:t>SIGNAL / CONTROL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Analogue Measurement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5880" y="2606040"/>
            <a:ext cx="658368" cy="658368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8A68"/>
                </a:solidFill>
                <a:latin typeface="Arial"/>
              </a:rPr>
              <a:t>PHYSICAL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Light / position / pressure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51760" y="3611880"/>
            <a:ext cx="228600" cy="0"/>
          </a:xfrm>
          <a:prstGeom prst="line">
            <a:avLst/>
          </a:prstGeom>
          <a:ln w="25400">
            <a:solidFill>
              <a:srgbClr val="008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47872" y="2606040"/>
            <a:ext cx="658368" cy="658368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8A68"/>
                </a:solidFill>
                <a:latin typeface="Arial"/>
              </a:rPr>
              <a:t>TRANSDUCER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Resistance or voltage changes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611880"/>
            <a:ext cx="228600" cy="0"/>
          </a:xfrm>
          <a:prstGeom prst="line">
            <a:avLst/>
          </a:prstGeom>
          <a:ln w="25400">
            <a:solidFill>
              <a:srgbClr val="008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02352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9864" y="2606040"/>
            <a:ext cx="658368" cy="658368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9864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8A68"/>
                </a:solidFill>
                <a:latin typeface="Arial"/>
              </a:rPr>
              <a:t>CONDITION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Divider, filter, reference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95744" y="3611880"/>
            <a:ext cx="228600" cy="0"/>
          </a:xfrm>
          <a:prstGeom prst="line">
            <a:avLst/>
          </a:prstGeom>
          <a:ln w="25400">
            <a:solidFill>
              <a:srgbClr val="008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24344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91856" y="2606040"/>
            <a:ext cx="658368" cy="658368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91856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8A68"/>
                </a:solidFill>
                <a:latin typeface="Arial"/>
              </a:rPr>
              <a:t>ADC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Voltage -&gt; integer code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17736" y="3611880"/>
            <a:ext cx="228600" cy="0"/>
          </a:xfrm>
          <a:prstGeom prst="line">
            <a:avLst/>
          </a:prstGeom>
          <a:ln w="25400">
            <a:solidFill>
              <a:srgbClr val="008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46336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3848" y="2606040"/>
            <a:ext cx="658368" cy="658368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3848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4352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8A68"/>
                </a:solidFill>
                <a:latin typeface="Arial"/>
              </a:rPr>
              <a:t>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4352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Calibrate, decide, command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38" name="Oval 37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48</a:t>
            </a:r>
          </a:p>
        </p:txBody>
      </p:sp>
    </p:spTree>
  </p:cSld>
  <p:transition spd="fast">
    <p:fade/>
  </p:transition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8A68"/>
                </a:solidFill>
                <a:latin typeface="Arial"/>
              </a:rPr>
              <a:t>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Continuous Signal, Discrete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64208"/>
            <a:ext cx="100584" cy="217170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73A6"/>
                </a:solidFill>
                <a:latin typeface="Arial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A0 accepts a voltage within the board's permitted range.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1664208"/>
            <a:ext cx="100584" cy="217170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8A68"/>
                </a:solidFill>
                <a:latin typeface="Arial"/>
              </a:rPr>
              <a:t>Sample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ADC observes the input at a point in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064508"/>
            <a:ext cx="100584" cy="217170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E9722B"/>
                </a:solidFill>
                <a:latin typeface="Arial"/>
              </a:rPr>
              <a:t>Quantise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The continuous value is assigned to one of 1024 codes.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064508"/>
            <a:ext cx="100584" cy="21717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6E56CF"/>
                </a:solidFill>
                <a:latin typeface="Arial"/>
              </a:rPr>
              <a:t>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analogRead() returns an integer from 0 to 1023 on the classic Uno.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5" name="Oval 24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49</a:t>
            </a:r>
          </a:p>
        </p:txBody>
      </p:sp>
    </p:spTree>
  </p:cSld>
  <p:transition spd="fast">
    <p:fade/>
  </p:transition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8A68"/>
                </a:solidFill>
                <a:latin typeface="Arial"/>
              </a:rPr>
              <a:t>WORKED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10-bit ADC Conversion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4617720" cy="1874519"/>
          </a:xfrm>
          <a:prstGeom prst="round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04288"/>
            <a:ext cx="40690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rial"/>
              </a:rPr>
              <a:t>Vin approx code x Vref / 1023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828800"/>
            <a:ext cx="5943600" cy="1874519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80" y="205740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008A68"/>
                </a:solidFill>
                <a:latin typeface="Arial"/>
              </a:rPr>
              <a:t>SUBSTITUTE REAL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2578608"/>
            <a:ext cx="530352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>
                <a:solidFill>
                  <a:srgbClr val="131A22"/>
                </a:solidFill>
                <a:latin typeface="Arial"/>
              </a:rPr>
              <a:t>code 614 at Vref 5.00 V -&gt; Vin approx 3.00 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096512"/>
            <a:ext cx="3429000" cy="16002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4315968"/>
            <a:ext cx="2971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008A68"/>
                </a:solidFill>
                <a:latin typeface="Arial"/>
              </a:rPr>
              <a:t>Resolution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736592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131A22"/>
                </a:solidFill>
                <a:latin typeface="Arial"/>
              </a:rPr>
              <a:t>5 V / 1024 approx 4.88 mV per count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6552" y="4096512"/>
            <a:ext cx="3429000" cy="16002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4315968"/>
            <a:ext cx="2971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008A68"/>
                </a:solidFill>
                <a:latin typeface="Arial"/>
              </a:rPr>
              <a:t>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736592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131A22"/>
                </a:solidFill>
                <a:latin typeface="Arial"/>
              </a:rPr>
              <a:t>Never exceed the allowed analogue input voltage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4" y="4096512"/>
            <a:ext cx="3429000" cy="16002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2" y="4315968"/>
            <a:ext cx="2971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008A68"/>
                </a:solidFill>
                <a:latin typeface="Arial"/>
              </a:rPr>
              <a:t>Reference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4736592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131A22"/>
                </a:solidFill>
                <a:latin typeface="Arial"/>
              </a:rPr>
              <a:t>Measurement accuracy depends on actual Vref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3" name="Oval 22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50</a:t>
            </a:r>
          </a:p>
        </p:txBody>
      </p:sp>
    </p:spTree>
  </p:cSld>
  <p:transition spd="fast">
    <p:fade/>
  </p:transition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8A68"/>
                </a:solidFill>
                <a:latin typeface="Arial"/>
              </a:rPr>
              <a:t>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Reference Voltage and Accuracy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64208"/>
            <a:ext cx="100584" cy="217170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73A6"/>
                </a:solidFill>
                <a:latin typeface="Arial"/>
              </a:rPr>
              <a:t>Default 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Typically the board supply; USB/supply variation affects conversion.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1664208"/>
            <a:ext cx="100584" cy="217170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8A68"/>
                </a:solidFill>
                <a:latin typeface="Arial"/>
              </a:rPr>
              <a:t>Source impedance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High impedance can slow sample/hold settling.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064508"/>
            <a:ext cx="100584" cy="217170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E9722B"/>
                </a:solidFill>
                <a:latin typeface="Arial"/>
              </a:rPr>
              <a:t>Noise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Long wires and motors inject variation into ADC readings.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064508"/>
            <a:ext cx="100584" cy="21717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6E56CF"/>
                </a:solidFill>
                <a:latin typeface="Arial"/>
              </a:rPr>
              <a:t>Calibration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Use measured endpoints rather than assuming ideal 0 and 1023.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5" name="Oval 24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</p:spTree>
  </p:cSld>
  <p:transition spd="fast">
    <p:fade/>
  </p:transition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8A68"/>
                </a:solidFill>
                <a:latin typeface="Arial"/>
              </a:rPr>
              <a:t>RUNNABLE CODE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Moving-Average Filter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7040880" cy="4443984"/>
          </a:xfrm>
          <a:prstGeom prst="round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6565392" cy="39776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D7F9F1"/>
                </a:solidFill>
                <a:latin typeface="Courier New"/>
              </a:rPr>
              <a:t>const int N = 8; long sum = 0;
for (int i=0; i&lt;N; i++) {
  sum += analogRead(A0);
}
int filtered = sum / N;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3568" y="1755648"/>
            <a:ext cx="3602736" cy="4443984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008A68"/>
                </a:solidFill>
                <a:latin typeface="Arial"/>
              </a:rPr>
              <a:t>READ THE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8229600" y="2587752"/>
            <a:ext cx="310896" cy="310896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606040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5088" y="2569464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Eight independent samples contribute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0" y="3429000"/>
            <a:ext cx="310896" cy="310896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447288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5088" y="3410712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long avoids sum overflow in larger windows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0" y="4270248"/>
            <a:ext cx="310896" cy="310896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288536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4251960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Division produces the mean code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0" y="5111496"/>
            <a:ext cx="310896" cy="310896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5129783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5093208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Filtering reduces noise but adds latency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5" name="Oval 24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</p:spTree>
  </p:cSld>
  <p:transition spd="fast">
    <p:fade/>
  </p:transition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8A68"/>
                </a:solidFill>
                <a:latin typeface="Arial"/>
              </a:rPr>
              <a:t>WORKED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Calibrate and Map a Sensor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4617720" cy="1874519"/>
          </a:xfrm>
          <a:prstGeom prst="round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04288"/>
            <a:ext cx="40690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rial"/>
              </a:rPr>
              <a:t>output = map(raw, rawMin, rawMax, outMin, outMax)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828800"/>
            <a:ext cx="5943600" cy="1874519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80" y="205740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008A68"/>
                </a:solidFill>
                <a:latin typeface="Arial"/>
              </a:rPr>
              <a:t>SUBSTITUTE REAL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2578608"/>
            <a:ext cx="530352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>
                <a:solidFill>
                  <a:srgbClr val="131A22"/>
                </a:solidFill>
                <a:latin typeface="Arial"/>
              </a:rPr>
              <a:t>map(constrain(raw, 180, 850), 180, 850, 0, 100)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096512"/>
            <a:ext cx="3429000" cy="16002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4315968"/>
            <a:ext cx="2971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008A68"/>
                </a:solidFill>
                <a:latin typeface="Arial"/>
              </a:rPr>
              <a:t>Measure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736592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131A22"/>
                </a:solidFill>
                <a:latin typeface="Arial"/>
              </a:rPr>
              <a:t>Capture real minimum/maximum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6552" y="4096512"/>
            <a:ext cx="3429000" cy="16002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4315968"/>
            <a:ext cx="2971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008A68"/>
                </a:solidFill>
                <a:latin typeface="Arial"/>
              </a:rPr>
              <a:t>Constrain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736592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131A22"/>
                </a:solidFill>
                <a:latin typeface="Arial"/>
              </a:rPr>
              <a:t>Reject out-of-range excursions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4" y="4096512"/>
            <a:ext cx="3429000" cy="16002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2" y="4315968"/>
            <a:ext cx="2971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008A68"/>
                </a:solidFill>
                <a:latin typeface="Arial"/>
              </a:rP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4736592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131A22"/>
                </a:solidFill>
                <a:latin typeface="Arial"/>
              </a:rPr>
              <a:t>Compare mapped value to a reference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3" name="Oval 22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</p:spTree>
  </p:cSld>
  <p:transition spd="fast">
    <p:fade/>
  </p:transition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8A68"/>
                </a:solidFill>
                <a:latin typeface="Arial"/>
              </a:rPr>
              <a:t>WORKED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LDR Voltage Divider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4617720" cy="1874519"/>
          </a:xfrm>
          <a:prstGeom prst="round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04288"/>
            <a:ext cx="40690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rial"/>
              </a:rPr>
              <a:t>Vout = Vcc x Rfixed / (RLDR + Rfixed)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828800"/>
            <a:ext cx="5943600" cy="1874519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80" y="205740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008A68"/>
                </a:solidFill>
                <a:latin typeface="Arial"/>
              </a:rPr>
              <a:t>SUBSTITUTE REAL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2578608"/>
            <a:ext cx="530352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>
                <a:solidFill>
                  <a:srgbClr val="131A22"/>
                </a:solidFill>
                <a:latin typeface="Arial"/>
              </a:rPr>
              <a:t>5 V x 10k / (30k + 10k) = 1.25 V in a darker condition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096512"/>
            <a:ext cx="3429000" cy="16002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4315968"/>
            <a:ext cx="2971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008A68"/>
                </a:solidFill>
                <a:latin typeface="Arial"/>
              </a:rPr>
              <a:t>Orientation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736592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131A22"/>
                </a:solidFill>
                <a:latin typeface="Arial"/>
              </a:rPr>
              <a:t>Swapping LDR/fixed resistor reverses response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6552" y="4096512"/>
            <a:ext cx="3429000" cy="16002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4315968"/>
            <a:ext cx="2971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008A68"/>
                </a:solidFill>
                <a:latin typeface="Arial"/>
              </a:rPr>
              <a:t>ADC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736592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131A22"/>
                </a:solidFill>
                <a:latin typeface="Arial"/>
              </a:rPr>
              <a:t>A0 observes divider junction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4" y="4096512"/>
            <a:ext cx="3429000" cy="16002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2" y="4315968"/>
            <a:ext cx="2971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008A68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4736592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131A22"/>
                </a:solidFill>
                <a:latin typeface="Arial"/>
              </a:rPr>
              <a:t>Calibrate with measured light levels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3" name="Oval 22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</p:spTree>
  </p:cSld>
  <p:transition spd="fast">
    <p:fade/>
  </p:transition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8A68"/>
                </a:solidFill>
                <a:latin typeface="Arial"/>
              </a:rPr>
              <a:t>EDITABLE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Hysteresis Prevents Chatter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21792" y="2496312"/>
            <a:ext cx="1316736" cy="1316736"/>
          </a:xfrm>
          <a:prstGeom prst="ellipse">
            <a:avLst/>
          </a:prstGeom>
          <a:solidFill>
            <a:srgbClr val="F4F7F9"/>
          </a:solidFill>
          <a:ln>
            <a:solidFill>
              <a:srgbClr val="00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2834640"/>
            <a:ext cx="11704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8A68"/>
                </a:solidFill>
                <a:latin typeface="Arial"/>
              </a:rPr>
              <a:t>LAMP 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3246120"/>
            <a:ext cx="1207008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80" b="0">
                <a:solidFill>
                  <a:srgbClr val="131A22"/>
                </a:solidFill>
                <a:latin typeface="Arial"/>
              </a:rPr>
              <a:t>raw &gt; 450</a:t>
            </a:r>
          </a:p>
        </p:txBody>
      </p:sp>
      <p:sp>
        <p:nvSpPr>
          <p:cNvPr id="9" name="Oval 8"/>
          <p:cNvSpPr/>
          <p:nvPr/>
        </p:nvSpPr>
        <p:spPr>
          <a:xfrm>
            <a:off x="5513832" y="2496312"/>
            <a:ext cx="1316736" cy="1316736"/>
          </a:xfrm>
          <a:prstGeom prst="ellipse">
            <a:avLst/>
          </a:prstGeom>
          <a:solidFill>
            <a:srgbClr val="F4F7F9"/>
          </a:solidFill>
          <a:ln>
            <a:solidFill>
              <a:srgbClr val="00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86984" y="2834640"/>
            <a:ext cx="11704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8A68"/>
                </a:solidFill>
                <a:latin typeface="Arial"/>
              </a:rPr>
              <a:t>DEAD BAND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68696" y="3246120"/>
            <a:ext cx="1207008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80" b="0">
                <a:solidFill>
                  <a:srgbClr val="131A22"/>
                </a:solidFill>
                <a:latin typeface="Arial"/>
              </a:rPr>
              <a:t>350-450</a:t>
            </a:r>
          </a:p>
        </p:txBody>
      </p:sp>
      <p:sp>
        <p:nvSpPr>
          <p:cNvPr id="12" name="Oval 11"/>
          <p:cNvSpPr/>
          <p:nvPr/>
        </p:nvSpPr>
        <p:spPr>
          <a:xfrm>
            <a:off x="10405872" y="2496312"/>
            <a:ext cx="1316736" cy="1316736"/>
          </a:xfrm>
          <a:prstGeom prst="ellipse">
            <a:avLst/>
          </a:prstGeom>
          <a:solidFill>
            <a:srgbClr val="F4F7F9"/>
          </a:solidFill>
          <a:ln>
            <a:solidFill>
              <a:srgbClr val="00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79024" y="2834640"/>
            <a:ext cx="11704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8A68"/>
                </a:solidFill>
                <a:latin typeface="Arial"/>
              </a:rPr>
              <a:t>LAMP 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0736" y="3246120"/>
            <a:ext cx="1207008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80" b="0">
                <a:solidFill>
                  <a:srgbClr val="131A22"/>
                </a:solidFill>
                <a:latin typeface="Arial"/>
              </a:rPr>
              <a:t>raw &lt; 350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65960" y="3154680"/>
            <a:ext cx="3520440" cy="0"/>
          </a:xfrm>
          <a:prstGeom prst="line">
            <a:avLst/>
          </a:prstGeom>
          <a:ln w="25400">
            <a:solidFill>
              <a:srgbClr val="008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31820" y="2560320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1">
                <a:solidFill>
                  <a:srgbClr val="576470"/>
                </a:solidFill>
                <a:latin typeface="Arial"/>
              </a:rPr>
              <a:t>darker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0" y="3154680"/>
            <a:ext cx="3520440" cy="0"/>
          </a:xfrm>
          <a:prstGeom prst="line">
            <a:avLst/>
          </a:prstGeom>
          <a:ln w="25400">
            <a:solidFill>
              <a:srgbClr val="008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023860" y="2560320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1">
                <a:solidFill>
                  <a:srgbClr val="576470"/>
                </a:solidFill>
                <a:latin typeface="Arial"/>
              </a:rPr>
              <a:t>&lt;350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5486400" y="3154680"/>
            <a:ext cx="6263640" cy="0"/>
          </a:xfrm>
          <a:prstGeom prst="line">
            <a:avLst/>
          </a:prstGeom>
          <a:ln w="25400">
            <a:solidFill>
              <a:srgbClr val="008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023860" y="2560320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1">
                <a:solidFill>
                  <a:srgbClr val="576470"/>
                </a:solidFill>
                <a:latin typeface="Arial"/>
              </a:rPr>
              <a:t>brighter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594360" y="3154680"/>
            <a:ext cx="6263640" cy="0"/>
          </a:xfrm>
          <a:prstGeom prst="line">
            <a:avLst/>
          </a:prstGeom>
          <a:ln w="25400">
            <a:solidFill>
              <a:srgbClr val="008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31820" y="2560320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1">
                <a:solidFill>
                  <a:srgbClr val="576470"/>
                </a:solidFill>
                <a:latin typeface="Arial"/>
              </a:rPr>
              <a:t>&gt;450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074920"/>
            <a:ext cx="10287000" cy="64008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5285232"/>
            <a:ext cx="98755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1">
                <a:solidFill>
                  <a:srgbClr val="131A22"/>
                </a:solidFill>
                <a:latin typeface="Arial"/>
              </a:rPr>
              <a:t>A state machine makes every output, entry condition, exit condition, and safe default inspectable.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8" name="Oval 27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</p:spTree>
  </p:cSld>
  <p:transition spd="fast">
    <p:fade/>
  </p:transition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8A68"/>
                </a:solidFill>
                <a:latin typeface="Arial"/>
              </a:rPr>
              <a:t>TIMING WAVEFORM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Servo Command Pulse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20240"/>
            <a:ext cx="12344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31A22"/>
                </a:solidFill>
                <a:latin typeface="Arial"/>
              </a:rPr>
              <a:t>0 degrees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2011680"/>
            <a:ext cx="224028" cy="384048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44268" y="2304288"/>
            <a:ext cx="2016252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0520" y="2011680"/>
            <a:ext cx="224028" cy="384048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4548" y="2304288"/>
            <a:ext cx="2016252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224028" cy="384048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4828" y="2304288"/>
            <a:ext cx="2016252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41080" y="2011680"/>
            <a:ext cx="224028" cy="384048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65108" y="2304288"/>
            <a:ext cx="2016252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54512" y="1956816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008A68"/>
                </a:solidFill>
                <a:latin typeface="Arial"/>
              </a:rPr>
              <a:t>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999232"/>
            <a:ext cx="12344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31A22"/>
                </a:solidFill>
                <a:latin typeface="Arial"/>
              </a:rPr>
              <a:t>90 degrees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3090672"/>
            <a:ext cx="1120140" cy="384048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40380" y="3383280"/>
            <a:ext cx="1120140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0520" y="3090672"/>
            <a:ext cx="1120140" cy="384048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80660" y="3383280"/>
            <a:ext cx="1120140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090672"/>
            <a:ext cx="1120140" cy="384048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20940" y="3383280"/>
            <a:ext cx="1120140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41080" y="3090672"/>
            <a:ext cx="1120140" cy="384048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61220" y="3383280"/>
            <a:ext cx="1120140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54512" y="3035808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008A68"/>
                </a:solidFill>
                <a:latin typeface="Arial"/>
              </a:rPr>
              <a:t>50%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078224"/>
            <a:ext cx="12344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31A22"/>
                </a:solidFill>
                <a:latin typeface="Arial"/>
              </a:rPr>
              <a:t>180 degrees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4169664"/>
            <a:ext cx="2016252" cy="384048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936492" y="4462272"/>
            <a:ext cx="224028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60520" y="4169664"/>
            <a:ext cx="2016252" cy="384048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6772" y="4462272"/>
            <a:ext cx="224028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4169664"/>
            <a:ext cx="2016252" cy="384048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17052" y="4462272"/>
            <a:ext cx="224028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41080" y="4169664"/>
            <a:ext cx="2016252" cy="384048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657332" y="4462272"/>
            <a:ext cx="224028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54512" y="4114800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008A68"/>
                </a:solidFill>
                <a:latin typeface="Arial"/>
              </a:rPr>
              <a:t>90%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5596128"/>
            <a:ext cx="10835640" cy="475488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696712"/>
            <a:ext cx="1037844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The Servo library schedules control pulses; servo supply current must not come from an Arduino I/O pin.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41" name="Oval 40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</p:spTree>
  </p:cSld>
  <p:transition spd="fast">
    <p:fade/>
  </p:transition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8A68"/>
                </a:solidFill>
                <a:latin typeface="Arial"/>
              </a:rPr>
              <a:t>SIGNAL / CONTROL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Servo Energy and Signal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5880" y="2606040"/>
            <a:ext cx="658368" cy="658368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8A68"/>
                </a:solidFill>
                <a:latin typeface="Arial"/>
              </a:rPr>
              <a:t>A0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Potentiometer position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51760" y="3611880"/>
            <a:ext cx="228600" cy="0"/>
          </a:xfrm>
          <a:prstGeom prst="line">
            <a:avLst/>
          </a:prstGeom>
          <a:ln w="25400">
            <a:solidFill>
              <a:srgbClr val="008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47872" y="2606040"/>
            <a:ext cx="658368" cy="658368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8A68"/>
                </a:solidFill>
                <a:latin typeface="Arial"/>
              </a:rPr>
              <a:t>map()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0-1023 -&gt; 0-180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611880"/>
            <a:ext cx="228600" cy="0"/>
          </a:xfrm>
          <a:prstGeom prst="line">
            <a:avLst/>
          </a:prstGeom>
          <a:ln w="25400">
            <a:solidFill>
              <a:srgbClr val="008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02352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9864" y="2606040"/>
            <a:ext cx="658368" cy="658368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9864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8A68"/>
                </a:solidFill>
                <a:latin typeface="Arial"/>
              </a:rPr>
              <a:t>D9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Timed control pulse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95744" y="3611880"/>
            <a:ext cx="228600" cy="0"/>
          </a:xfrm>
          <a:prstGeom prst="line">
            <a:avLst/>
          </a:prstGeom>
          <a:ln w="25400">
            <a:solidFill>
              <a:srgbClr val="008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24344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91856" y="2606040"/>
            <a:ext cx="658368" cy="658368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91856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8A68"/>
                </a:solidFill>
                <a:latin typeface="Arial"/>
              </a:rPr>
              <a:t>5 V supply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Provides actuator energy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17736" y="3611880"/>
            <a:ext cx="228600" cy="0"/>
          </a:xfrm>
          <a:prstGeom prst="line">
            <a:avLst/>
          </a:prstGeom>
          <a:ln w="25400">
            <a:solidFill>
              <a:srgbClr val="008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46336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3848" y="2606040"/>
            <a:ext cx="658368" cy="658368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3848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4352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8A68"/>
                </a:solidFill>
                <a:latin typeface="Arial"/>
              </a:rPr>
              <a:t>COMMON GND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4352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Maintains signal reference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38" name="Oval 37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</p:spTree>
  </p:cSld>
  <p:transition spd="fast">
    <p:fade/>
  </p:transition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8A68"/>
                </a:solidFill>
                <a:latin typeface="Arial"/>
              </a:rPr>
              <a:t>OBSERVE -&gt; COMPARE -&gt;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Analogue Failure Modes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1828800"/>
            <a:ext cx="1965960" cy="530352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65960"/>
            <a:ext cx="174650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660904" y="1828800"/>
            <a:ext cx="2971800" cy="530352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0632" y="1965960"/>
            <a:ext cx="275234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EXPECTED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2704" y="1828800"/>
            <a:ext cx="2971800" cy="530352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42432" y="1965960"/>
            <a:ext cx="275234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04504" y="1828800"/>
            <a:ext cx="2834640" cy="530352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1965960"/>
            <a:ext cx="261518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DECISION / 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" y="2359152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478024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Stuck 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60904" y="2359152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0632" y="2478024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Input shorted to GND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32704" y="2359152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2478024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ADC trace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04504" y="2359152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478024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Inspect divider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" y="3346704"/>
            <a:ext cx="196596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465576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Stuck 1023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60904" y="3346704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70632" y="3465576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Input tied to Vref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32704" y="3346704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42432" y="3465576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ADC trace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04504" y="3346704"/>
            <a:ext cx="283464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3465576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Inspect return path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" y="4334256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453128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Jitter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0904" y="4334256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0632" y="4453128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Noise / weak supply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32704" y="4334256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42432" y="4453128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Spread over samples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04504" y="4334256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14232" y="4453128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Filter / power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4944" y="5321808"/>
            <a:ext cx="196596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5440680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Wrong direction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60904" y="5321808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70632" y="5440680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Divider/map reversed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32704" y="5321808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42432" y="5440680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Endpoint test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04504" y="5321808"/>
            <a:ext cx="283464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14232" y="5440680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Reverse mapping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49" name="Oval 48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</p:spTree>
  </p:cSld>
  <p:transition spd="fast">
    <p:fade/>
  </p:transition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8A68"/>
                </a:solidFill>
                <a:latin typeface="Arial"/>
              </a:rPr>
              <a:t>PRACTICE BRIDGE  | 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Lab 6: LDR Dark-Activated Lamp with Hysteresis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675120" cy="18288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6126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008A68"/>
                </a:solidFill>
                <a:latin typeface="Arial"/>
              </a:rPr>
              <a:t>MECHANISM TO PROVE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612648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31A22"/>
                </a:solidFill>
                <a:latin typeface="Arial"/>
              </a:rPr>
              <a:t>Convert a light-dependent voltage divider into a stable two-threshold control decision.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783080"/>
            <a:ext cx="3931920" cy="1828800"/>
          </a:xfrm>
          <a:prstGeom prst="round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2011680"/>
            <a:ext cx="3383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7DE7D2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487168"/>
            <a:ext cx="3383280" cy="8961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A calibrated dark-activated lamp that avoids chatter around the switching threshold.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008A68"/>
                </a:solidFill>
                <a:latin typeface="Arial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5 V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30118" y="4727447"/>
            <a:ext cx="219456" cy="0"/>
          </a:xfrm>
          <a:prstGeom prst="line">
            <a:avLst/>
          </a:prstGeom>
          <a:ln w="21590">
            <a:solidFill>
              <a:srgbClr val="008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49574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6734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008A68"/>
                </a:solidFill>
                <a:latin typeface="Arial"/>
              </a:rPr>
              <a:t>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6734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const uint8_t LDR_PIN = A0;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4727447"/>
            <a:ext cx="219456" cy="0"/>
          </a:xfrm>
          <a:prstGeom prst="line">
            <a:avLst/>
          </a:prstGeom>
          <a:ln w="21590">
            <a:solidFill>
              <a:srgbClr val="008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13348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508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008A68"/>
                </a:solidFill>
                <a:latin typeface="Arial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508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Serial output shows plausible 0-1023 readings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57666" y="4727447"/>
            <a:ext cx="219456" cy="0"/>
          </a:xfrm>
          <a:prstGeom prst="line">
            <a:avLst/>
          </a:prstGeom>
          <a:ln w="21590">
            <a:solidFill>
              <a:srgbClr val="008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77122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14282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008A68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4282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Output remains stable inside the hysteresis band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30" name="Oval 29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</p:spTree>
  </p:cSld>
  <p:transition spd="fast">
    <p:fade/>
  </p:transition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8A68"/>
                </a:solidFill>
                <a:latin typeface="Arial"/>
              </a:rPr>
              <a:t>OBSERVE -&gt; COMPARE -&gt;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Lab 6 Calibration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1828800"/>
            <a:ext cx="1965960" cy="530352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65960"/>
            <a:ext cx="174650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660904" y="1828800"/>
            <a:ext cx="2971800" cy="530352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0632" y="1965960"/>
            <a:ext cx="275234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EXPECTED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2704" y="1828800"/>
            <a:ext cx="2971800" cy="530352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42432" y="1965960"/>
            <a:ext cx="275234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04504" y="1828800"/>
            <a:ext cx="2834640" cy="530352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1965960"/>
            <a:ext cx="261518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DECISION / 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" y="2359152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478024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Bright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60904" y="2359152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0632" y="2478024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Record ADC high/low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32704" y="2359152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2478024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Measured value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04504" y="2359152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478024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Choose orientation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" y="3346704"/>
            <a:ext cx="196596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465576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Room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60904" y="3346704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70632" y="3465576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Record midpoint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32704" y="3346704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42432" y="3465576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Measured value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04504" y="3346704"/>
            <a:ext cx="283464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3465576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Set dead band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" y="4334256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453128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Covered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0904" y="4334256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0632" y="4453128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Record dark endpoint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32704" y="4334256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42432" y="4453128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Measured value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04504" y="4334256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14232" y="4453128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Set ON threshold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41" name="Oval 40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</p:spTree>
  </p:cSld>
  <p:transition spd="fast">
    <p:fade/>
  </p:transition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8A68"/>
                </a:solidFill>
                <a:latin typeface="Arial"/>
              </a:rPr>
              <a:t>PRACTICE BRIDGE  | 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Lab 7: Potentiometer-Controlled Servo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675120" cy="18288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6126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008A68"/>
                </a:solidFill>
                <a:latin typeface="Arial"/>
              </a:rPr>
              <a:t>MECHANISM TO PROVE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612648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31A22"/>
                </a:solidFill>
                <a:latin typeface="Arial"/>
              </a:rPr>
              <a:t>Map a 10-bit ADC measurement to a bounded servo command while respecting the servo power boundary.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783080"/>
            <a:ext cx="3931920" cy="1828800"/>
          </a:xfrm>
          <a:prstGeom prst="round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2011680"/>
            <a:ext cx="3383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7DE7D2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487168"/>
            <a:ext cx="3383280" cy="8961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A 0-180 degree servo position controller with clamped input and separate-power guidance.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008A68"/>
                </a:solidFill>
                <a:latin typeface="Arial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Pot outer pins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30118" y="4727447"/>
            <a:ext cx="219456" cy="0"/>
          </a:xfrm>
          <a:prstGeom prst="line">
            <a:avLst/>
          </a:prstGeom>
          <a:ln w="21590">
            <a:solidFill>
              <a:srgbClr val="008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49574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6734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008A68"/>
                </a:solidFill>
                <a:latin typeface="Arial"/>
              </a:rPr>
              <a:t>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6734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#include &lt;Servo.h&gt;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4727447"/>
            <a:ext cx="219456" cy="0"/>
          </a:xfrm>
          <a:prstGeom prst="line">
            <a:avLst/>
          </a:prstGeom>
          <a:ln w="21590">
            <a:solidFill>
              <a:srgbClr val="008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13348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508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008A68"/>
                </a:solidFill>
                <a:latin typeface="Arial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508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ADC reading changes smoothly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57666" y="4727447"/>
            <a:ext cx="219456" cy="0"/>
          </a:xfrm>
          <a:prstGeom prst="line">
            <a:avLst/>
          </a:prstGeom>
          <a:ln w="21590">
            <a:solidFill>
              <a:srgbClr val="008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77122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14282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008A68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4282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Board does not reset when servo moves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30" name="Oval 29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</p:spTree>
  </p:cSld>
  <p:transition spd="fast">
    <p:fade/>
  </p:transition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8A68"/>
                </a:solidFill>
                <a:latin typeface="Arial"/>
              </a:rPr>
              <a:t>RUNNABLE CODE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Lab 7 ADC-to-Servo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7040880" cy="4443984"/>
          </a:xfrm>
          <a:prstGeom prst="round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6565392" cy="39776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D7F9F1"/>
                </a:solidFill>
                <a:latin typeface="Courier New"/>
              </a:rPr>
              <a:t>#include &lt;Servo.h&gt;
Servo actuator;
const uint8_t POT_PIN = A0;
const uint8_t SERVO_PIN = 9;
void setup() {
  actuator.attach(SERVO_PIN);
  Serial.begin(9600);
}
void loop() {
  int raw = analogRead(POT_PIN);
  int angle = constrain(map(raw, 0, 1023, 0, 180), 0, 180);
  actuator.write(angle);
  Serial.println(angle);
  delay(15);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3568" y="1755648"/>
            <a:ext cx="3602736" cy="4443984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008A68"/>
                </a:solidFill>
                <a:latin typeface="Arial"/>
              </a:rPr>
              <a:t>READ THE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8229600" y="2587752"/>
            <a:ext cx="310896" cy="310896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606040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5088" y="2569464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analogRead acquires the 10-bit measurement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0" y="3429000"/>
            <a:ext cx="310896" cy="310896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447288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5088" y="3410712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map converts measurement to command units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0" y="4270248"/>
            <a:ext cx="310896" cy="310896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288536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4251960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constrain enforces actuator command bounds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0" y="5111496"/>
            <a:ext cx="310896" cy="310896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5129783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5093208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Common ground makes the signal meaningful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5" name="Oval 24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</p:spTree>
  </p:cSld>
  <p:transition spd="fast">
    <p:fade/>
  </p:transition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8A68"/>
                </a:solidFill>
                <a:latin typeface="Arial"/>
              </a:rPr>
              <a:t>SIGNAL / CONTROL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Analogue Control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5880" y="2606040"/>
            <a:ext cx="658368" cy="658368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8A68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Potentiometer / LDR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51760" y="3611880"/>
            <a:ext cx="228600" cy="0"/>
          </a:xfrm>
          <a:prstGeom prst="line">
            <a:avLst/>
          </a:prstGeom>
          <a:ln w="25400">
            <a:solidFill>
              <a:srgbClr val="008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47872" y="2606040"/>
            <a:ext cx="658368" cy="658368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8A68"/>
                </a:solidFill>
                <a:latin typeface="Arial"/>
              </a:rPr>
              <a:t>CALIBRATE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Real endpoints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611880"/>
            <a:ext cx="228600" cy="0"/>
          </a:xfrm>
          <a:prstGeom prst="line">
            <a:avLst/>
          </a:prstGeom>
          <a:ln w="25400">
            <a:solidFill>
              <a:srgbClr val="008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02352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9864" y="2606040"/>
            <a:ext cx="658368" cy="658368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9864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8A68"/>
                </a:solidFill>
                <a:latin typeface="Arial"/>
              </a:rPr>
              <a:t>FILTER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Reduce noise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95744" y="3611880"/>
            <a:ext cx="228600" cy="0"/>
          </a:xfrm>
          <a:prstGeom prst="line">
            <a:avLst/>
          </a:prstGeom>
          <a:ln w="25400">
            <a:solidFill>
              <a:srgbClr val="008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24344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91856" y="2606040"/>
            <a:ext cx="658368" cy="658368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91856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8A68"/>
                </a:solidFill>
                <a:latin typeface="Arial"/>
              </a:rPr>
              <a:t>DECIDE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Map or hysteresis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17736" y="3611880"/>
            <a:ext cx="228600" cy="0"/>
          </a:xfrm>
          <a:prstGeom prst="line">
            <a:avLst/>
          </a:prstGeom>
          <a:ln w="25400">
            <a:solidFill>
              <a:srgbClr val="008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46336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3848" y="2606040"/>
            <a:ext cx="658368" cy="658368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3848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4352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008A68"/>
                </a:solidFill>
                <a:latin typeface="Arial"/>
              </a:rPr>
              <a:t>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4352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Servo / lamp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38" name="Oval 37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</p:spTree>
  </p:cSld>
  <p:transition spd="fast">
    <p:fade/>
  </p:transition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8A68"/>
                </a:solidFill>
                <a:latin typeface="Arial"/>
              </a:rPr>
              <a:t>OBSERVE -&gt; COMPARE -&gt;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Topic 3 Verification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1828800"/>
            <a:ext cx="1965960" cy="530352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65960"/>
            <a:ext cx="174650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660904" y="1828800"/>
            <a:ext cx="2971800" cy="530352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0632" y="1965960"/>
            <a:ext cx="275234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EXPECTED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2704" y="1828800"/>
            <a:ext cx="2971800" cy="530352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42432" y="1965960"/>
            <a:ext cx="275234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04504" y="1828800"/>
            <a:ext cx="2834640" cy="530352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1965960"/>
            <a:ext cx="261518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DECISION / 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" y="2359152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478024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ADC scale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60904" y="2359152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0632" y="2478024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0-1023 bounded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32704" y="2359152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2478024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Serial endpoints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04504" y="2359152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478024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ADC mechanism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" y="3346704"/>
            <a:ext cx="196596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465576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LDR control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60904" y="3346704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70632" y="3465576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Stable dark lamp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32704" y="3346704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42432" y="3465576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Threshold trace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04504" y="3346704"/>
            <a:ext cx="283464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3465576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Applied sensor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" y="4334256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453128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Servo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0904" y="4334256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0632" y="4453128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0-180 bounded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32704" y="4334256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42432" y="4453128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Angle checkpoints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04504" y="4334256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14232" y="4453128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Transducer control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41" name="Oval 40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</p:spTree>
  </p:cSld>
  <p:transition spd="fast">
    <p:fade/>
  </p:transition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594360"/>
            <a:ext cx="1417320" cy="1417320"/>
          </a:xfrm>
          <a:prstGeom prst="ellipse">
            <a:avLst/>
          </a:prstGeom>
          <a:solidFill>
            <a:srgbClr val="F4F7F9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38360" y="676656"/>
            <a:ext cx="141732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800" b="1">
                <a:solidFill>
                  <a:srgbClr val="6E56CF"/>
                </a:solidFill>
                <a:latin typeface="Aria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6E56CF"/>
                </a:solidFill>
                <a:latin typeface="Arial"/>
              </a:rPr>
              <a:t>TOPIC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978408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131A22"/>
                </a:solidFill>
                <a:latin typeface="Arial"/>
              </a:rPr>
              <a:t>Digital Sensors and Transducers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977639"/>
            <a:ext cx="932688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576470"/>
                </a:solidFill>
                <a:latin typeface="Arial"/>
              </a:rPr>
              <a:t>Digital sensor contracts, trigger/echo timing, distance calculation, timeouts, PIR state, and responsive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12" name="Oval 11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</p:spTree>
  </p:cSld>
  <p:transition spd="med">
    <p:push/>
  </p:transition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6E56CF"/>
                </a:solidFill>
                <a:latin typeface="Arial"/>
              </a:rPr>
              <a:t>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Digital Sensor Output Contracts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64208"/>
            <a:ext cx="100584" cy="217170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73A6"/>
                </a:solidFill>
                <a:latin typeface="Arial"/>
              </a:rPr>
              <a:t>Binary 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Sensor presents HIGH/LOW relative to logic thresholds.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1664208"/>
            <a:ext cx="100584" cy="217170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8A68"/>
                </a:solidFill>
                <a:latin typeface="Arial"/>
              </a:rPr>
              <a:t>Pulse width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Information is encoded in how long a signal remains HIGH/LOW.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064508"/>
            <a:ext cx="100584" cy="217170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E9722B"/>
                </a:solidFill>
                <a:latin typeface="Arial"/>
              </a:rPr>
              <a:t>Serial protocol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Bits are framed with timing, addressing and sometimes checksums.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064508"/>
            <a:ext cx="100584" cy="21717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6E56CF"/>
                </a:solidFill>
                <a:latin typeface="Arial"/>
              </a:rPr>
              <a:t>Library object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A library can abstract timing but errors still require explicit handling.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5" name="Oval 24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</p:spTree>
  </p:cSld>
  <p:transition spd="fast">
    <p:fade/>
  </p:transition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6E56CF"/>
                </a:solidFill>
                <a:latin typeface="Arial"/>
              </a:rPr>
              <a:t>SIGNAL / CONTROL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Ultrasonic Ranging Transaction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5880" y="2606040"/>
            <a:ext cx="658368" cy="658368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6E56CF"/>
                </a:solidFill>
                <a:latin typeface="Arial"/>
              </a:rPr>
              <a:t>IDLE 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Settle trigger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51760" y="3611880"/>
            <a:ext cx="228600" cy="0"/>
          </a:xfrm>
          <a:prstGeom prst="line">
            <a:avLst/>
          </a:prstGeom>
          <a:ln w="25400">
            <a:solidFill>
              <a:srgbClr val="6E5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47872" y="2606040"/>
            <a:ext cx="658368" cy="658368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6E56CF"/>
                </a:solidFill>
                <a:latin typeface="Arial"/>
              </a:rPr>
              <a:t>10 us TRIGGER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Start burst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611880"/>
            <a:ext cx="228600" cy="0"/>
          </a:xfrm>
          <a:prstGeom prst="line">
            <a:avLst/>
          </a:prstGeom>
          <a:ln w="25400">
            <a:solidFill>
              <a:srgbClr val="6E5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02352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9864" y="2606040"/>
            <a:ext cx="658368" cy="658368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9864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6E56CF"/>
                </a:solidFill>
                <a:latin typeface="Arial"/>
              </a:rPr>
              <a:t>40 kHz BURST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Sensor transmits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95744" y="3611880"/>
            <a:ext cx="228600" cy="0"/>
          </a:xfrm>
          <a:prstGeom prst="line">
            <a:avLst/>
          </a:prstGeom>
          <a:ln w="25400">
            <a:solidFill>
              <a:srgbClr val="6E5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24344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91856" y="2606040"/>
            <a:ext cx="658368" cy="658368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91856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6E56CF"/>
                </a:solidFill>
                <a:latin typeface="Arial"/>
              </a:rPr>
              <a:t>ECHO HIGH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Pulse equals round trip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17736" y="3611880"/>
            <a:ext cx="228600" cy="0"/>
          </a:xfrm>
          <a:prstGeom prst="line">
            <a:avLst/>
          </a:prstGeom>
          <a:ln w="25400">
            <a:solidFill>
              <a:srgbClr val="6E5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46336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3848" y="2606040"/>
            <a:ext cx="658368" cy="658368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3848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4352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6E56CF"/>
                </a:solidFill>
                <a:latin typeface="Arial"/>
              </a:rPr>
              <a:t>TIMEOUT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4352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Bound missing response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38" name="Oval 37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</p:spTree>
  </p:cSld>
  <p:transition spd="fast">
    <p:fade/>
  </p:transition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6E56CF"/>
                </a:solidFill>
                <a:latin typeface="Arial"/>
              </a:rPr>
              <a:t>WORKED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Time-of-Flight Distance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4617720" cy="1874519"/>
          </a:xfrm>
          <a:prstGeom prst="round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04288"/>
            <a:ext cx="40690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rial"/>
              </a:rPr>
              <a:t>distance = duration x 0.0343 cm/us /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828800"/>
            <a:ext cx="5943600" cy="1874519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80" y="205740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6E56CF"/>
                </a:solidFill>
                <a:latin typeface="Arial"/>
              </a:rPr>
              <a:t>SUBSTITUTE REAL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2578608"/>
            <a:ext cx="530352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>
                <a:solidFill>
                  <a:srgbClr val="131A22"/>
                </a:solidFill>
                <a:latin typeface="Arial"/>
              </a:rPr>
              <a:t>1,750 us x 0.0343 / 2 = 30.0 cm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096512"/>
            <a:ext cx="3429000" cy="16002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4315968"/>
            <a:ext cx="2971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6E56CF"/>
                </a:solidFill>
                <a:latin typeface="Arial"/>
              </a:rPr>
              <a:t>Round trip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736592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131A22"/>
                </a:solidFill>
                <a:latin typeface="Arial"/>
              </a:rPr>
              <a:t>Divide by two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6552" y="4096512"/>
            <a:ext cx="3429000" cy="16002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4315968"/>
            <a:ext cx="2971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6E56CF"/>
                </a:solidFill>
                <a:latin typeface="Arial"/>
              </a:rPr>
              <a:t>Temperature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736592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131A22"/>
                </a:solidFill>
                <a:latin typeface="Arial"/>
              </a:rPr>
              <a:t>Sound speed changes slightly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4" y="4096512"/>
            <a:ext cx="3429000" cy="16002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2" y="4315968"/>
            <a:ext cx="2971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6E56CF"/>
                </a:solidFill>
                <a:latin typeface="Arial"/>
              </a:rPr>
              <a:t>Timeout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4736592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131A22"/>
                </a:solidFill>
                <a:latin typeface="Arial"/>
              </a:rPr>
              <a:t>0 means no valid echo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3" name="Oval 22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</p:spTree>
  </p:cSld>
  <p:transition spd="fast">
    <p:fade/>
  </p:transition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6E56CF"/>
                </a:solidFill>
                <a:latin typeface="Arial"/>
              </a:rPr>
              <a:t>TIMING WAVEFORM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Trigger and Echo Timing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20240"/>
            <a:ext cx="12344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31A22"/>
                </a:solidFill>
                <a:latin typeface="Arial"/>
              </a:rPr>
              <a:t>TRIG 10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2011680"/>
            <a:ext cx="224028" cy="384048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44268" y="2304288"/>
            <a:ext cx="2016252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0520" y="2011680"/>
            <a:ext cx="224028" cy="384048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4548" y="2304288"/>
            <a:ext cx="2016252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224028" cy="384048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4828" y="2304288"/>
            <a:ext cx="2016252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41080" y="2011680"/>
            <a:ext cx="224028" cy="384048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65108" y="2304288"/>
            <a:ext cx="2016252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54512" y="1956816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6E56CF"/>
                </a:solidFill>
                <a:latin typeface="Arial"/>
              </a:rPr>
              <a:t>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999232"/>
            <a:ext cx="12344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31A22"/>
                </a:solidFill>
                <a:latin typeface="Arial"/>
              </a:rPr>
              <a:t>ECHO 1,750 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3090672"/>
            <a:ext cx="1299362" cy="384048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19602" y="3383280"/>
            <a:ext cx="940917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0520" y="3090672"/>
            <a:ext cx="1299362" cy="384048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59882" y="3383280"/>
            <a:ext cx="940917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090672"/>
            <a:ext cx="1299362" cy="384048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00162" y="3383280"/>
            <a:ext cx="940917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41080" y="3090672"/>
            <a:ext cx="1299362" cy="384048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940442" y="3383280"/>
            <a:ext cx="940917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54512" y="3035808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6E56CF"/>
                </a:solidFill>
                <a:latin typeface="Arial"/>
              </a:rPr>
              <a:t>57%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078224"/>
            <a:ext cx="12344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31A22"/>
                </a:solidFill>
                <a:latin typeface="Arial"/>
              </a:rPr>
              <a:t>30 ms timeout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4169664"/>
            <a:ext cx="2061057" cy="384048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981297" y="4462272"/>
            <a:ext cx="179222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60520" y="4169664"/>
            <a:ext cx="2061057" cy="384048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21577" y="4462272"/>
            <a:ext cx="179222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4169664"/>
            <a:ext cx="2061057" cy="384048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61857" y="4462272"/>
            <a:ext cx="179222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41080" y="4169664"/>
            <a:ext cx="2061057" cy="384048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02137" y="4462272"/>
            <a:ext cx="179222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54512" y="4114800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6E56CF"/>
                </a:solidFill>
                <a:latin typeface="Arial"/>
              </a:rPr>
              <a:t>92%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5596128"/>
            <a:ext cx="10835640" cy="475488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696712"/>
            <a:ext cx="1037844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pulseIn(ECHO, HIGH, 30000) converts a missing echo into duration == 0 instead of an unbounded wait.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41" name="Oval 40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</p:spTree>
  </p:cSld>
  <p:transition spd="fast">
    <p:fade/>
  </p:transition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6E56CF"/>
                </a:solidFill>
                <a:latin typeface="Arial"/>
              </a:rPr>
              <a:t>RUNNABLE CODE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Bounded pulseIn() Measurement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7040880" cy="4443984"/>
          </a:xfrm>
          <a:prstGeom prst="round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6565392" cy="39776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D7F9F1"/>
                </a:solidFill>
                <a:latin typeface="Courier New"/>
              </a:rPr>
              <a:t>const uint8_t TRIG_PIN = 9;
const uint8_t ECHO_PIN = 10;
const unsigned long ECHO_TIMEOUT_US = 30000;
void setup() {
  pinMode(TRIG_PIN, OUTPUT);
  pinMode(ECHO_PIN, INPUT);
  Serial.begin(9600);
}
void loop() {
  digitalWrite(TRIG_PIN, LOW); delayMicroseconds(2);
  digitalWrite(TRIG_PIN, HIGH); delayMicroseconds(10);
  digitalWrite(TRIG_PIN, LOW);
  unsigned long duration = pulseIn(ECHO_PIN, HIGH, ECHO_TIMEOUT_US);
  if (duration == 0) Serial.println("NO_ECHO");
  else {
    float distanceCm = duration * 0.0343f / 2.0f;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3568" y="1755648"/>
            <a:ext cx="3602736" cy="4443984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6E56CF"/>
                </a:solidFill>
                <a:latin typeface="Arial"/>
              </a:rPr>
              <a:t>READ THE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8229600" y="2587752"/>
            <a:ext cx="310896" cy="310896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606040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5088" y="2569464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2 us LOW establishes a clean trigger edge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0" y="3429000"/>
            <a:ext cx="310896" cy="310896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447288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5088" y="3410712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10 us HIGH starts the ranging cycle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0" y="4270248"/>
            <a:ext cx="310896" cy="310896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288536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4251960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30,000 us timeout bounds waiting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0" y="5111496"/>
            <a:ext cx="310896" cy="310896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5129783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5093208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duration == 0 is a separate fault state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5" name="Oval 24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</p:spTree>
  </p:cSld>
  <p:transition spd="fast">
    <p:fade/>
  </p:transition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6E56CF"/>
                </a:solidFill>
                <a:latin typeface="Arial"/>
              </a:rPr>
              <a:t>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Ultrasonic Measurement Limits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64208"/>
            <a:ext cx="100584" cy="2171700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C53D43"/>
                </a:solidFill>
                <a:latin typeface="Arial"/>
              </a:rPr>
              <a:t>Blind zone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Very near targets may not produce a usable separated echo.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1664208"/>
            <a:ext cx="100584" cy="217170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E9722B"/>
                </a:solidFill>
                <a:latin typeface="Arial"/>
              </a:rPr>
              <a:t>Surface angle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A slanted target reflects energy away from the receiver.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064508"/>
            <a:ext cx="100584" cy="21717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6E56CF"/>
                </a:solidFill>
                <a:latin typeface="Arial"/>
              </a:rPr>
              <a:t>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Soft or irregular surfaces absorb/scatter ultrasound.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064508"/>
            <a:ext cx="100584" cy="217170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73A6"/>
                </a:solidFill>
                <a:latin typeface="Arial"/>
              </a:rPr>
              <a:t>Cross-talk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Nearby ultrasonic sensors can hear another transmitter.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5" name="Oval 24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71</a:t>
            </a:r>
          </a:p>
        </p:txBody>
      </p:sp>
    </p:spTree>
  </p:cSld>
  <p:transition spd="fast">
    <p:fade/>
  </p:transition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6E56CF"/>
                </a:solidFill>
                <a:latin typeface="Arial"/>
              </a:rPr>
              <a:t>SIGNAL / CONTROL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PIR Motion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5880" y="2606040"/>
            <a:ext cx="658368" cy="658368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6E56CF"/>
                </a:solidFill>
                <a:latin typeface="Arial"/>
              </a:rPr>
              <a:t>WARM-UP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Sensor stabilises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51760" y="3611880"/>
            <a:ext cx="228600" cy="0"/>
          </a:xfrm>
          <a:prstGeom prst="line">
            <a:avLst/>
          </a:prstGeom>
          <a:ln w="25400">
            <a:solidFill>
              <a:srgbClr val="6E5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47872" y="2606040"/>
            <a:ext cx="658368" cy="658368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6E56CF"/>
                </a:solidFill>
                <a:latin typeface="Arial"/>
              </a:rPr>
              <a:t>IDLE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OUT LOW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611880"/>
            <a:ext cx="228600" cy="0"/>
          </a:xfrm>
          <a:prstGeom prst="line">
            <a:avLst/>
          </a:prstGeom>
          <a:ln w="25400">
            <a:solidFill>
              <a:srgbClr val="6E5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02352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9864" y="2606040"/>
            <a:ext cx="658368" cy="658368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9864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6E56CF"/>
                </a:solidFill>
                <a:latin typeface="Arial"/>
              </a:rPr>
              <a:t>MOTION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OUT HIGH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95744" y="3611880"/>
            <a:ext cx="228600" cy="0"/>
          </a:xfrm>
          <a:prstGeom prst="line">
            <a:avLst/>
          </a:prstGeom>
          <a:ln w="25400">
            <a:solidFill>
              <a:srgbClr val="6E5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24344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91856" y="2606040"/>
            <a:ext cx="658368" cy="658368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91856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6E56CF"/>
                </a:solidFill>
                <a:latin typeface="Arial"/>
              </a:rPr>
              <a:t>HOLD TIMER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Extend on new motion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17736" y="3611880"/>
            <a:ext cx="228600" cy="0"/>
          </a:xfrm>
          <a:prstGeom prst="line">
            <a:avLst/>
          </a:prstGeom>
          <a:ln w="25400">
            <a:solidFill>
              <a:srgbClr val="6E5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46336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3848" y="2606040"/>
            <a:ext cx="658368" cy="658368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3848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4352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6E56CF"/>
                </a:solidFill>
                <a:latin typeface="Arial"/>
              </a:rPr>
              <a:t>EXPIRE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4352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Return light LOW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38" name="Oval 37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72</a:t>
            </a:r>
          </a:p>
        </p:txBody>
      </p:sp>
    </p:spTree>
  </p:cSld>
  <p:transition spd="fast">
    <p:fade/>
  </p:transition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6E56CF"/>
                </a:solidFill>
                <a:latin typeface="Arial"/>
              </a:rPr>
              <a:t>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Digital Sensor Noise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64208"/>
            <a:ext cx="100584" cy="217170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73A6"/>
                </a:solidFill>
                <a:latin typeface="Arial"/>
              </a:rPr>
              <a:t>Pull-up/down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Defines idle voltage when output is open or high impedance.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1664208"/>
            <a:ext cx="100584" cy="217170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8A68"/>
                </a:solidFill>
                <a:latin typeface="Arial"/>
              </a:rPr>
              <a:t>Debounce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Rejects rapid contact transitions.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064508"/>
            <a:ext cx="100584" cy="217170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E9722B"/>
                </a:solidFill>
                <a:latin typeface="Arial"/>
              </a:rPr>
              <a:t>Timeout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Bounds missing pulses or stalled devices.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064508"/>
            <a:ext cx="100584" cy="21717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6E56CF"/>
                </a:solidFill>
                <a:latin typeface="Arial"/>
              </a:rPr>
              <a:t>State machine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Separates warm-up, active, hold and fault behaviour.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5" name="Oval 24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73</a:t>
            </a:r>
          </a:p>
        </p:txBody>
      </p:sp>
    </p:spTree>
  </p:cSld>
  <p:transition spd="fast">
    <p:fade/>
  </p:transition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6E56CF"/>
                </a:solidFill>
                <a:latin typeface="Arial"/>
              </a:rPr>
              <a:t>DECISION /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delay() Hold vs millis() 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257800" cy="443484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75104"/>
            <a:ext cx="47548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6E56CF"/>
                </a:solidFill>
                <a:latin typeface="Arial"/>
              </a:rPr>
              <a:t>BLOCKING HOLD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542032"/>
            <a:ext cx="292608" cy="292608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4168" y="2523744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31A22"/>
                </a:solidFill>
                <a:latin typeface="Arial"/>
              </a:rPr>
              <a:t>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852927"/>
            <a:ext cx="4251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576470"/>
                </a:solidFill>
                <a:latin typeface="Arial"/>
              </a:rPr>
              <a:t>delay(5000)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456432"/>
            <a:ext cx="292608" cy="292608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3438144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31A22"/>
                </a:solidFill>
                <a:latin typeface="Arial"/>
              </a:rPr>
              <a:t>Effect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3767328"/>
            <a:ext cx="4251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576470"/>
                </a:solidFill>
                <a:latin typeface="Arial"/>
              </a:rPr>
              <a:t>No normal sensor/serial work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370831"/>
            <a:ext cx="292608" cy="292608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44168" y="4352544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31A22"/>
                </a:solidFill>
                <a:latin typeface="Arial"/>
              </a:rPr>
              <a:t>Retrigger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4681727"/>
            <a:ext cx="4251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576470"/>
                </a:solidFill>
                <a:latin typeface="Arial"/>
              </a:rPr>
              <a:t>Cannot extend cleanly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285231"/>
            <a:ext cx="292608" cy="292608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44168" y="5266944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31A22"/>
                </a:solidFill>
                <a:latin typeface="Arial"/>
              </a:rPr>
              <a:t>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5596127"/>
            <a:ext cx="4251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576470"/>
                </a:solidFill>
                <a:latin typeface="Arial"/>
              </a:rPr>
              <a:t>Simple one-shot demo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755648"/>
            <a:ext cx="5257800" cy="443484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975104"/>
            <a:ext cx="47548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008A68"/>
                </a:solidFill>
                <a:latin typeface="Arial"/>
              </a:rPr>
              <a:t>RESPONSIVE HOLD</a:t>
            </a:r>
          </a:p>
        </p:txBody>
      </p:sp>
      <p:sp>
        <p:nvSpPr>
          <p:cNvPr id="22" name="Oval 21"/>
          <p:cNvSpPr/>
          <p:nvPr/>
        </p:nvSpPr>
        <p:spPr>
          <a:xfrm>
            <a:off x="6519672" y="2542032"/>
            <a:ext cx="292608" cy="292608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2523744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31A22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852927"/>
            <a:ext cx="4251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576470"/>
                </a:solidFill>
                <a:latin typeface="Arial"/>
              </a:rPr>
              <a:t>elapsed &lt; HOLD_MS</a:t>
            </a:r>
          </a:p>
        </p:txBody>
      </p:sp>
      <p:sp>
        <p:nvSpPr>
          <p:cNvPr id="25" name="Oval 24"/>
          <p:cNvSpPr/>
          <p:nvPr/>
        </p:nvSpPr>
        <p:spPr>
          <a:xfrm>
            <a:off x="6519672" y="3456432"/>
            <a:ext cx="292608" cy="292608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438144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31A22"/>
                </a:solidFill>
                <a:latin typeface="Arial"/>
              </a:rPr>
              <a:t>Effect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767328"/>
            <a:ext cx="4251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576470"/>
                </a:solidFill>
                <a:latin typeface="Arial"/>
              </a:rPr>
              <a:t>Loop remains responsive</a:t>
            </a:r>
          </a:p>
        </p:txBody>
      </p:sp>
      <p:sp>
        <p:nvSpPr>
          <p:cNvPr id="28" name="Oval 27"/>
          <p:cNvSpPr/>
          <p:nvPr/>
        </p:nvSpPr>
        <p:spPr>
          <a:xfrm>
            <a:off x="6519672" y="4370831"/>
            <a:ext cx="292608" cy="292608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4352544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31A22"/>
                </a:solidFill>
                <a:latin typeface="Arial"/>
              </a:rPr>
              <a:t>Retrigger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681727"/>
            <a:ext cx="4251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576470"/>
                </a:solidFill>
                <a:latin typeface="Arial"/>
              </a:rPr>
              <a:t>Update lastMotionMs</a:t>
            </a:r>
          </a:p>
        </p:txBody>
      </p:sp>
      <p:sp>
        <p:nvSpPr>
          <p:cNvPr id="31" name="Oval 30"/>
          <p:cNvSpPr/>
          <p:nvPr/>
        </p:nvSpPr>
        <p:spPr>
          <a:xfrm>
            <a:off x="6519672" y="5285231"/>
            <a:ext cx="292608" cy="292608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5266944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31A22"/>
                </a:solidFill>
                <a:latin typeface="Arial"/>
              </a:rPr>
              <a:t>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596127"/>
            <a:ext cx="4251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576470"/>
                </a:solidFill>
                <a:latin typeface="Arial"/>
              </a:rPr>
              <a:t>Real motion light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37" name="Oval 36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74</a:t>
            </a:r>
          </a:p>
        </p:txBody>
      </p:sp>
    </p:spTree>
  </p:cSld>
  <p:transition spd="fast">
    <p:fade/>
  </p:transition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6E56CF"/>
                </a:solidFill>
                <a:latin typeface="Arial"/>
              </a:rPr>
              <a:t>EDITABLE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Obstacle Indicator States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21792" y="2496312"/>
            <a:ext cx="1316736" cy="1316736"/>
          </a:xfrm>
          <a:prstGeom prst="ellipse">
            <a:avLst/>
          </a:prstGeom>
          <a:solidFill>
            <a:srgbClr val="F4F7F9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2834640"/>
            <a:ext cx="11704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6E56CF"/>
                </a:solidFill>
                <a:latin typeface="Arial"/>
              </a:rPr>
              <a:t>CLEAR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3246120"/>
            <a:ext cx="1207008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80" b="0">
                <a:solidFill>
                  <a:srgbClr val="131A22"/>
                </a:solidFill>
                <a:latin typeface="Arial"/>
              </a:rPr>
              <a:t>green</a:t>
            </a:r>
          </a:p>
        </p:txBody>
      </p:sp>
      <p:sp>
        <p:nvSpPr>
          <p:cNvPr id="9" name="Oval 8"/>
          <p:cNvSpPr/>
          <p:nvPr/>
        </p:nvSpPr>
        <p:spPr>
          <a:xfrm>
            <a:off x="5513832" y="2496312"/>
            <a:ext cx="1316736" cy="1316736"/>
          </a:xfrm>
          <a:prstGeom prst="ellipse">
            <a:avLst/>
          </a:prstGeom>
          <a:solidFill>
            <a:srgbClr val="F4F7F9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86984" y="2834640"/>
            <a:ext cx="11704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6E56CF"/>
                </a:solidFill>
                <a:latin typeface="Arial"/>
              </a:rPr>
              <a:t>NEAR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68696" y="3246120"/>
            <a:ext cx="1207008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80" b="0">
                <a:solidFill>
                  <a:srgbClr val="131A22"/>
                </a:solidFill>
                <a:latin typeface="Arial"/>
              </a:rPr>
              <a:t>red</a:t>
            </a:r>
          </a:p>
        </p:txBody>
      </p:sp>
      <p:sp>
        <p:nvSpPr>
          <p:cNvPr id="12" name="Oval 11"/>
          <p:cNvSpPr/>
          <p:nvPr/>
        </p:nvSpPr>
        <p:spPr>
          <a:xfrm>
            <a:off x="10405872" y="2496312"/>
            <a:ext cx="1316736" cy="1316736"/>
          </a:xfrm>
          <a:prstGeom prst="ellipse">
            <a:avLst/>
          </a:prstGeom>
          <a:solidFill>
            <a:srgbClr val="F4F7F9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79024" y="2834640"/>
            <a:ext cx="11704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6E56CF"/>
                </a:solidFill>
                <a:latin typeface="Arial"/>
              </a:rPr>
              <a:t>NO ECHO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0736" y="3246120"/>
            <a:ext cx="1207008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80" b="0">
                <a:solidFill>
                  <a:srgbClr val="131A22"/>
                </a:solidFill>
                <a:latin typeface="Arial"/>
              </a:rPr>
              <a:t>fault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594360" y="3154680"/>
            <a:ext cx="6263640" cy="0"/>
          </a:xfrm>
          <a:prstGeom prst="line">
            <a:avLst/>
          </a:prstGeom>
          <a:ln w="25400">
            <a:solidFill>
              <a:srgbClr val="6E5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31820" y="2560320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1">
                <a:solidFill>
                  <a:srgbClr val="576470"/>
                </a:solidFill>
                <a:latin typeface="Arial"/>
              </a:rPr>
              <a:t>&gt; limit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65960" y="3154680"/>
            <a:ext cx="3520440" cy="0"/>
          </a:xfrm>
          <a:prstGeom prst="line">
            <a:avLst/>
          </a:prstGeom>
          <a:ln w="25400">
            <a:solidFill>
              <a:srgbClr val="6E5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31820" y="2560320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1">
                <a:solidFill>
                  <a:srgbClr val="576470"/>
                </a:solidFill>
                <a:latin typeface="Arial"/>
              </a:rPr>
              <a:t>&lt;= limit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65960" y="3154680"/>
            <a:ext cx="8412480" cy="0"/>
          </a:xfrm>
          <a:prstGeom prst="line">
            <a:avLst/>
          </a:prstGeom>
          <a:ln w="25400">
            <a:solidFill>
              <a:srgbClr val="6E5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577840" y="2560320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1">
                <a:solidFill>
                  <a:srgbClr val="576470"/>
                </a:solidFill>
                <a:latin typeface="Arial"/>
              </a:rPr>
              <a:t>timeout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594360" y="3154680"/>
            <a:ext cx="11155680" cy="0"/>
          </a:xfrm>
          <a:prstGeom prst="line">
            <a:avLst/>
          </a:prstGeom>
          <a:ln w="25400">
            <a:solidFill>
              <a:srgbClr val="6E5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577840" y="2560320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1">
                <a:solidFill>
                  <a:srgbClr val="576470"/>
                </a:solidFill>
                <a:latin typeface="Arial"/>
              </a:rPr>
              <a:t>valid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074920"/>
            <a:ext cx="10287000" cy="64008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5285232"/>
            <a:ext cx="98755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1">
                <a:solidFill>
                  <a:srgbClr val="131A22"/>
                </a:solidFill>
                <a:latin typeface="Arial"/>
              </a:rPr>
              <a:t>A state machine makes every output, entry condition, exit condition, and safe default inspectable.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8" name="Oval 27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75</a:t>
            </a:r>
          </a:p>
        </p:txBody>
      </p:sp>
    </p:spTree>
  </p:cSld>
  <p:transition spd="fast">
    <p:fade/>
  </p:transition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6E56CF"/>
                </a:solidFill>
                <a:latin typeface="Arial"/>
              </a:rPr>
              <a:t>PRACTICE BRIDGE  | 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Lab 8: Ultrasonic Distance with Timeout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675120" cy="18288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6126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6E56CF"/>
                </a:solidFill>
                <a:latin typeface="Arial"/>
              </a:rPr>
              <a:t>MECHANISM TO PROVE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612648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31A22"/>
                </a:solidFill>
                <a:latin typeface="Arial"/>
              </a:rPr>
              <a:t>Measure echo pulse width, convert time-of-flight to distance, and handle a missing echo safely.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783080"/>
            <a:ext cx="3931920" cy="1828800"/>
          </a:xfrm>
          <a:prstGeom prst="round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2011680"/>
            <a:ext cx="3383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7DE7D2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487168"/>
            <a:ext cx="3383280" cy="8961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A distance monitor that reports centimetres or NO_ECHO within a bounded 30 ms wait.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6E56CF"/>
                </a:solidFill>
                <a:latin typeface="Arial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Sensor VCC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30118" y="4727447"/>
            <a:ext cx="219456" cy="0"/>
          </a:xfrm>
          <a:prstGeom prst="line">
            <a:avLst/>
          </a:prstGeom>
          <a:ln w="21590">
            <a:solidFill>
              <a:srgbClr val="6E5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49574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6734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6E56CF"/>
                </a:solidFill>
                <a:latin typeface="Arial"/>
              </a:rPr>
              <a:t>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6734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const uint8_t TRIG_PIN = 9;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4727447"/>
            <a:ext cx="219456" cy="0"/>
          </a:xfrm>
          <a:prstGeom prst="line">
            <a:avLst/>
          </a:prstGeom>
          <a:ln w="21590">
            <a:solidFill>
              <a:srgbClr val="6E5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13348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508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6E56CF"/>
                </a:solidFill>
                <a:latin typeface="Arial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508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Distance is within a reasonable tolerance of the ruler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57666" y="4727447"/>
            <a:ext cx="219456" cy="0"/>
          </a:xfrm>
          <a:prstGeom prst="line">
            <a:avLst/>
          </a:prstGeom>
          <a:ln w="21590">
            <a:solidFill>
              <a:srgbClr val="6E5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77122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14282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6E56CF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4282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No divide-by-zero or indefinite wait occurs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30" name="Oval 29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76</a:t>
            </a:r>
          </a:p>
        </p:txBody>
      </p:sp>
    </p:spTree>
  </p:cSld>
  <p:transition spd="fast">
    <p:fade/>
  </p:transition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6E56CF"/>
                </a:solidFill>
                <a:latin typeface="Arial"/>
              </a:rPr>
              <a:t>RUNNABLE CODE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Lab 8 Distance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7040880" cy="4443984"/>
          </a:xfrm>
          <a:prstGeom prst="round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6565392" cy="39776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D7F9F1"/>
                </a:solidFill>
                <a:latin typeface="Courier New"/>
              </a:rPr>
              <a:t>const uint8_t TRIG_PIN = 9;
const uint8_t ECHO_PIN = 10;
const unsigned long ECHO_TIMEOUT_US = 30000;
void setup() {
  pinMode(TRIG_PIN, OUTPUT);
  pinMode(ECHO_PIN, INPUT);
  Serial.begin(9600);
}
void loop() {
  digitalWrite(TRIG_PIN, LOW); delayMicroseconds(2);
  digitalWrite(TRIG_PIN, HIGH); delayMicroseconds(10);
  digitalWrite(TRIG_PIN, LOW);
  unsigned long duration = pulseIn(ECHO_PIN, HIGH, ECHO_TIMEOUT_US);
  if (duration == 0) Serial.println("NO_ECHO");
  else {
    float distanceCm = duration * 0.0343f / 2.0f;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3568" y="1755648"/>
            <a:ext cx="3602736" cy="4443984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6E56CF"/>
                </a:solidFill>
                <a:latin typeface="Arial"/>
              </a:rPr>
              <a:t>READ THE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8229600" y="2587752"/>
            <a:ext cx="310896" cy="310896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606040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5088" y="2569464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TRIG and ECHO have distinct directions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0" y="3429000"/>
            <a:ext cx="310896" cy="310896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447288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5088" y="3410712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Echo time is unsigned long microseconds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0" y="4270248"/>
            <a:ext cx="310896" cy="310896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288536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4251960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Formula divides round-trip path by two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0" y="5111496"/>
            <a:ext cx="310896" cy="310896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5129783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5093208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NO_ECHO is not treated as zero distance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5" name="Oval 24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77</a:t>
            </a:r>
          </a:p>
        </p:txBody>
      </p:sp>
    </p:spTree>
  </p:cSld>
  <p:transition spd="fast">
    <p:fade/>
  </p:transition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6E56CF"/>
                </a:solidFill>
                <a:latin typeface="Arial"/>
              </a:rPr>
              <a:t>OBSERVE -&gt; COMPARE -&gt;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Lab 8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1828800"/>
            <a:ext cx="1965960" cy="530352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65960"/>
            <a:ext cx="174650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660904" y="1828800"/>
            <a:ext cx="2971800" cy="530352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0632" y="1965960"/>
            <a:ext cx="275234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EXPECTED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2704" y="1828800"/>
            <a:ext cx="2971800" cy="530352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42432" y="1965960"/>
            <a:ext cx="275234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04504" y="1828800"/>
            <a:ext cx="2834640" cy="530352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1965960"/>
            <a:ext cx="261518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DECISION / 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" y="2359152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478024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20 cm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60904" y="2359152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0632" y="2478024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Approx 20 cm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32704" y="2359152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2478024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Serial + ruler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04504" y="2359152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478024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Within tolerance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" y="3346704"/>
            <a:ext cx="196596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465576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80 cm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60904" y="3346704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70632" y="3465576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Approx 80 cm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32704" y="3346704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42432" y="3465576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Serial + ruler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04504" y="3346704"/>
            <a:ext cx="283464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3465576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Within tolerance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" y="4334256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453128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No target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0904" y="4334256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0632" y="4453128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NO_ECHO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32704" y="4334256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42432" y="4453128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Serial state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04504" y="4334256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14232" y="4453128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Timeout handled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41" name="Oval 40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78</a:t>
            </a:r>
          </a:p>
        </p:txBody>
      </p:sp>
    </p:spTree>
  </p:cSld>
  <p:transition spd="fast">
    <p:fade/>
  </p:transition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6E56CF"/>
                </a:solidFill>
                <a:latin typeface="Arial"/>
              </a:rPr>
              <a:t>PRACTICE BRIDGE  | 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Lab 9: PIR Motion-Activated Light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675120" cy="18288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6126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6E56CF"/>
                </a:solidFill>
                <a:latin typeface="Arial"/>
              </a:rPr>
              <a:t>MECHANISM TO PROVE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612648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31A22"/>
                </a:solidFill>
                <a:latin typeface="Arial"/>
              </a:rPr>
              <a:t>Use a digital motion sensor contract and a non-blocking hold timer to control a light.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783080"/>
            <a:ext cx="3931920" cy="1828800"/>
          </a:xfrm>
          <a:prstGeom prst="round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2011680"/>
            <a:ext cx="3383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7DE7D2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487168"/>
            <a:ext cx="3383280" cy="8961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A motion light that extends its ON period when new motion arrives and expires safely after five seconds.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6E56CF"/>
                </a:solidFill>
                <a:latin typeface="Arial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PIR VCC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30118" y="4727447"/>
            <a:ext cx="219456" cy="0"/>
          </a:xfrm>
          <a:prstGeom prst="line">
            <a:avLst/>
          </a:prstGeom>
          <a:ln w="21590">
            <a:solidFill>
              <a:srgbClr val="6E5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49574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6734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6E56CF"/>
                </a:solidFill>
                <a:latin typeface="Arial"/>
              </a:rPr>
              <a:t>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6734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const uint8_t PIR_PIN = 2;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4727447"/>
            <a:ext cx="219456" cy="0"/>
          </a:xfrm>
          <a:prstGeom prst="line">
            <a:avLst/>
          </a:prstGeom>
          <a:ln w="21590">
            <a:solidFill>
              <a:srgbClr val="6E5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13348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508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6E56CF"/>
                </a:solidFill>
                <a:latin typeface="Arial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508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Motion drives the output HIGH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57666" y="4727447"/>
            <a:ext cx="219456" cy="0"/>
          </a:xfrm>
          <a:prstGeom prst="line">
            <a:avLst/>
          </a:prstGeom>
          <a:ln w="21590">
            <a:solidFill>
              <a:srgbClr val="6E5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77122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14282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6E56CF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4282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loop() remains responsive without delay(5000)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30" name="Oval 29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79</a:t>
            </a:r>
          </a:p>
        </p:txBody>
      </p:sp>
    </p:spTree>
  </p:cSld>
  <p:transition spd="fast">
    <p:fade/>
  </p:transition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6E56CF"/>
                </a:solidFill>
                <a:latin typeface="Arial"/>
              </a:rPr>
              <a:t>EDITABLE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Lab 9 Motion-Light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21792" y="2496312"/>
            <a:ext cx="1316736" cy="1316736"/>
          </a:xfrm>
          <a:prstGeom prst="ellipse">
            <a:avLst/>
          </a:prstGeom>
          <a:solidFill>
            <a:srgbClr val="F4F7F9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2834640"/>
            <a:ext cx="11704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6E56CF"/>
                </a:solidFill>
                <a:latin typeface="Arial"/>
              </a:rPr>
              <a:t>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3246120"/>
            <a:ext cx="1207008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80" b="0">
                <a:solidFill>
                  <a:srgbClr val="131A22"/>
                </a:solidFill>
                <a:latin typeface="Arial"/>
              </a:rPr>
              <a:t>no recent motion</a:t>
            </a:r>
          </a:p>
        </p:txBody>
      </p:sp>
      <p:sp>
        <p:nvSpPr>
          <p:cNvPr id="9" name="Oval 8"/>
          <p:cNvSpPr/>
          <p:nvPr/>
        </p:nvSpPr>
        <p:spPr>
          <a:xfrm>
            <a:off x="3883152" y="2496312"/>
            <a:ext cx="1316736" cy="1316736"/>
          </a:xfrm>
          <a:prstGeom prst="ellipse">
            <a:avLst/>
          </a:prstGeom>
          <a:solidFill>
            <a:srgbClr val="F4F7F9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56304" y="2834640"/>
            <a:ext cx="11704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6E56CF"/>
                </a:solidFill>
                <a:latin typeface="Arial"/>
              </a:rPr>
              <a:t>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8016" y="3246120"/>
            <a:ext cx="1207008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80" b="0">
                <a:solidFill>
                  <a:srgbClr val="131A22"/>
                </a:solidFill>
                <a:latin typeface="Arial"/>
              </a:rPr>
              <a:t>motion seen</a:t>
            </a:r>
          </a:p>
        </p:txBody>
      </p:sp>
      <p:sp>
        <p:nvSpPr>
          <p:cNvPr id="12" name="Oval 11"/>
          <p:cNvSpPr/>
          <p:nvPr/>
        </p:nvSpPr>
        <p:spPr>
          <a:xfrm>
            <a:off x="7144512" y="2496312"/>
            <a:ext cx="1316736" cy="1316736"/>
          </a:xfrm>
          <a:prstGeom prst="ellipse">
            <a:avLst/>
          </a:prstGeom>
          <a:solidFill>
            <a:srgbClr val="F4F7F9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17664" y="2834640"/>
            <a:ext cx="11704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6E56CF"/>
                </a:solidFill>
                <a:latin typeface="Arial"/>
              </a:rPr>
              <a:t>EXTENDED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9376" y="3246120"/>
            <a:ext cx="1207008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80" b="0">
                <a:solidFill>
                  <a:srgbClr val="131A22"/>
                </a:solidFill>
                <a:latin typeface="Arial"/>
              </a:rPr>
              <a:t>new motion</a:t>
            </a:r>
          </a:p>
        </p:txBody>
      </p:sp>
      <p:sp>
        <p:nvSpPr>
          <p:cNvPr id="15" name="Oval 14"/>
          <p:cNvSpPr/>
          <p:nvPr/>
        </p:nvSpPr>
        <p:spPr>
          <a:xfrm>
            <a:off x="10405872" y="2496312"/>
            <a:ext cx="1316736" cy="1316736"/>
          </a:xfrm>
          <a:prstGeom prst="ellipse">
            <a:avLst/>
          </a:prstGeom>
          <a:solidFill>
            <a:srgbClr val="F4F7F9"/>
          </a:solidFill>
          <a:ln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79024" y="2834640"/>
            <a:ext cx="11704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6E56CF"/>
                </a:solidFill>
                <a:latin typeface="Arial"/>
              </a:rPr>
              <a:t>EXPIRED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0736" y="3246120"/>
            <a:ext cx="1207008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80" b="0">
                <a:solidFill>
                  <a:srgbClr val="131A22"/>
                </a:solidFill>
                <a:latin typeface="Arial"/>
              </a:rPr>
              <a:t>5 s elapsed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65960" y="3154680"/>
            <a:ext cx="1889760" cy="0"/>
          </a:xfrm>
          <a:prstGeom prst="line">
            <a:avLst/>
          </a:prstGeom>
          <a:ln w="25400">
            <a:solidFill>
              <a:srgbClr val="6E5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316480" y="2560320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1">
                <a:solidFill>
                  <a:srgbClr val="576470"/>
                </a:solidFill>
                <a:latin typeface="Arial"/>
              </a:rPr>
              <a:t>PIR HIGH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227320" y="3154680"/>
            <a:ext cx="1889760" cy="0"/>
          </a:xfrm>
          <a:prstGeom prst="line">
            <a:avLst/>
          </a:prstGeom>
          <a:ln w="25400">
            <a:solidFill>
              <a:srgbClr val="6E5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577840" y="2560320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1">
                <a:solidFill>
                  <a:srgbClr val="576470"/>
                </a:solidFill>
                <a:latin typeface="Arial"/>
              </a:rPr>
              <a:t>PIR HIGH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88680" y="3154680"/>
            <a:ext cx="1889760" cy="0"/>
          </a:xfrm>
          <a:prstGeom prst="line">
            <a:avLst/>
          </a:prstGeom>
          <a:ln w="25400">
            <a:solidFill>
              <a:srgbClr val="6E5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839200" y="2560320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1">
                <a:solidFill>
                  <a:srgbClr val="576470"/>
                </a:solidFill>
                <a:latin typeface="Arial"/>
              </a:rPr>
              <a:t>time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594360" y="3154680"/>
            <a:ext cx="11155680" cy="0"/>
          </a:xfrm>
          <a:prstGeom prst="line">
            <a:avLst/>
          </a:prstGeom>
          <a:ln w="25400">
            <a:solidFill>
              <a:srgbClr val="6E5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577840" y="2560320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1">
                <a:solidFill>
                  <a:srgbClr val="576470"/>
                </a:solidFill>
                <a:latin typeface="Arial"/>
              </a:rPr>
              <a:t>reset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074920"/>
            <a:ext cx="10287000" cy="64008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5285232"/>
            <a:ext cx="98755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1">
                <a:solidFill>
                  <a:srgbClr val="131A22"/>
                </a:solidFill>
                <a:latin typeface="Arial"/>
              </a:rPr>
              <a:t>A state machine makes every output, entry condition, exit condition, and safe default inspectable.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31" name="Oval 30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80</a:t>
            </a:r>
          </a:p>
        </p:txBody>
      </p:sp>
    </p:spTree>
  </p:cSld>
  <p:transition spd="fast">
    <p:fade/>
  </p:transition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6E56CF"/>
                </a:solidFill>
                <a:latin typeface="Arial"/>
              </a:rPr>
              <a:t>OBSERVE -&gt; COMPARE -&gt;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Lab 9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1828800"/>
            <a:ext cx="1965960" cy="530352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65960"/>
            <a:ext cx="174650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660904" y="1828800"/>
            <a:ext cx="2971800" cy="530352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0632" y="1965960"/>
            <a:ext cx="275234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EXPECTED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2704" y="1828800"/>
            <a:ext cx="2971800" cy="530352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42432" y="1965960"/>
            <a:ext cx="275234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04504" y="1828800"/>
            <a:ext cx="2834640" cy="530352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1965960"/>
            <a:ext cx="261518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DECISION / 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" y="2359152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478024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Warm-up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60904" y="2359152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0632" y="2478024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Stable idle 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32704" y="2359152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2478024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Observed OUT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04504" y="2359152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478024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Ready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" y="3346704"/>
            <a:ext cx="196596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465576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Motion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60904" y="3346704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70632" y="3465576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Light 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32704" y="3346704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42432" y="3465576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LED evidence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04504" y="3346704"/>
            <a:ext cx="283464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3465576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Sensor detected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" y="4334256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453128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Retrigger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0904" y="4334256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0632" y="4453128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Hold extends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32704" y="4334256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42432" y="4453128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Timestamp trace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04504" y="4334256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14232" y="4453128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Non-blocking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41" name="Oval 40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81</a:t>
            </a:r>
          </a:p>
        </p:txBody>
      </p:sp>
    </p:spTree>
  </p:cSld>
  <p:transition spd="fast">
    <p:fade/>
  </p:transition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6E56CF"/>
                </a:solidFill>
                <a:latin typeface="Arial"/>
              </a:rPr>
              <a:t>OBSERVE -&gt; COMPARE -&gt;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Digital Sensor Fault Isolation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1828800"/>
            <a:ext cx="1965960" cy="530352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65960"/>
            <a:ext cx="174650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660904" y="1828800"/>
            <a:ext cx="2971800" cy="530352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0632" y="1965960"/>
            <a:ext cx="275234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EXPECTED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2704" y="1828800"/>
            <a:ext cx="2971800" cy="530352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42432" y="1965960"/>
            <a:ext cx="275234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04504" y="1828800"/>
            <a:ext cx="2834640" cy="530352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1965960"/>
            <a:ext cx="261518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DECISION / 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" y="2359152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478024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Power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60904" y="2359152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0632" y="2478024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Correct VCC/GND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32704" y="2359152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2478024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Meter / module LED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04504" y="2359152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478024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Fix supply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" y="3346704"/>
            <a:ext cx="196596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465576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Signal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60904" y="3346704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70632" y="3465576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Expected HIGH/LOW/pulse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32704" y="3346704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42432" y="3465576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Serial/raw trace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04504" y="3346704"/>
            <a:ext cx="283464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3465576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Fix pin/threshold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" y="4334256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453128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Timing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0904" y="4334256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0632" y="4453128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Within protocol window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32704" y="4334256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42432" y="4453128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Logic/waveform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04504" y="4334256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14232" y="4453128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Fix timeout/edge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4944" y="5321808"/>
            <a:ext cx="196596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5440680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Control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60904" y="5321808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70632" y="5440680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State transition correct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32704" y="5321808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42432" y="5440680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Output evidence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04504" y="5321808"/>
            <a:ext cx="283464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14232" y="5440680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Fix decision logic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49" name="Oval 48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82</a:t>
            </a:r>
          </a:p>
        </p:txBody>
      </p:sp>
    </p:spTree>
  </p:cSld>
  <p:transition spd="fast">
    <p:fade/>
  </p:transition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6E56CF"/>
                </a:solidFill>
                <a:latin typeface="Arial"/>
              </a:rPr>
              <a:t>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Digital Sensor Decision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64208"/>
            <a:ext cx="100584" cy="217170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73A6"/>
                </a:solidFill>
                <a:latin typeface="Arial"/>
              </a:rPr>
              <a:t>Know the encoding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Level, pulse width, serial frame, or library abstraction.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1664208"/>
            <a:ext cx="100584" cy="217170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8A68"/>
                </a:solidFill>
                <a:latin typeface="Arial"/>
              </a:rPr>
              <a:t>Bound every wait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A failed sensor must not freeze the control loop.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064508"/>
            <a:ext cx="100584" cy="217170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E9722B"/>
                </a:solidFill>
                <a:latin typeface="Arial"/>
              </a:rPr>
              <a:t>Represent faults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NO_ECHO/READ_ERROR are states, not plausible measurements.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064508"/>
            <a:ext cx="100584" cy="21717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6E56CF"/>
                </a:solidFill>
                <a:latin typeface="Arial"/>
              </a:rPr>
              <a:t>Verify with references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Compare sensor evidence against a ruler, known motion, or protocol timing.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5" name="Oval 24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83</a:t>
            </a:r>
          </a:p>
        </p:txBody>
      </p:sp>
    </p:spTree>
  </p:cSld>
  <p:transition spd="fast">
    <p:fade/>
  </p:transition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594360"/>
            <a:ext cx="1417320" cy="1417320"/>
          </a:xfrm>
          <a:prstGeom prst="ellipse">
            <a:avLst/>
          </a:prstGeom>
          <a:solidFill>
            <a:srgbClr val="F4F7F9"/>
          </a:solidFill>
          <a:ln>
            <a:solidFill>
              <a:srgbClr val="C53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38360" y="676656"/>
            <a:ext cx="141732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800" b="1">
                <a:solidFill>
                  <a:srgbClr val="C53D43"/>
                </a:solidFill>
                <a:latin typeface="Arial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C53D43"/>
                </a:solidFill>
                <a:latin typeface="Arial"/>
              </a:rPr>
              <a:t>TOPIC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978408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131A22"/>
                </a:solidFill>
                <a:latin typeface="Arial"/>
              </a:rPr>
              <a:t>Actuators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977639"/>
            <a:ext cx="932688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576470"/>
                </a:solidFill>
                <a:latin typeface="Arial"/>
              </a:rPr>
              <a:t>Actuator energy boundaries, motor drivers, flyback protection, steppers, DHT validation, and feedback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12" name="Oval 11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84</a:t>
            </a:r>
          </a:p>
        </p:txBody>
      </p:sp>
    </p:spTree>
  </p:cSld>
  <p:transition spd="med">
    <p:push/>
  </p:transition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C53D43"/>
                </a:solidFill>
                <a:latin typeface="Arial"/>
              </a:rPr>
              <a:t>SIGNAL / CONTROL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Actuator Control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5880" y="2606040"/>
            <a:ext cx="658368" cy="658368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C53D43"/>
                </a:solidFill>
                <a:latin typeface="Arial"/>
              </a:rPr>
              <a:t>MEASUREMENT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Sensor value + validity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51760" y="3611880"/>
            <a:ext cx="228600" cy="0"/>
          </a:xfrm>
          <a:prstGeom prst="line">
            <a:avLst/>
          </a:prstGeom>
          <a:ln w="25400">
            <a:solidFill>
              <a:srgbClr val="C5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47872" y="2606040"/>
            <a:ext cx="658368" cy="658368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C53D43"/>
                </a:solidFill>
                <a:latin typeface="Arial"/>
              </a:rPr>
              <a:t>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Threshold/state/controller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611880"/>
            <a:ext cx="228600" cy="0"/>
          </a:xfrm>
          <a:prstGeom prst="line">
            <a:avLst/>
          </a:prstGeom>
          <a:ln w="25400">
            <a:solidFill>
              <a:srgbClr val="C5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02352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9864" y="2606040"/>
            <a:ext cx="658368" cy="658368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9864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C53D43"/>
                </a:solidFill>
                <a:latin typeface="Arial"/>
              </a:rPr>
              <a:t>LOGIC DRIVE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GPIO or PWM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95744" y="3611880"/>
            <a:ext cx="228600" cy="0"/>
          </a:xfrm>
          <a:prstGeom prst="line">
            <a:avLst/>
          </a:prstGeom>
          <a:ln w="25400">
            <a:solidFill>
              <a:srgbClr val="C5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24344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91856" y="2606040"/>
            <a:ext cx="658368" cy="658368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91856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C53D43"/>
                </a:solidFill>
                <a:latin typeface="Arial"/>
              </a:rPr>
              <a:t>POWER STAGE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MOSFET / driver array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17736" y="3611880"/>
            <a:ext cx="228600" cy="0"/>
          </a:xfrm>
          <a:prstGeom prst="line">
            <a:avLst/>
          </a:prstGeom>
          <a:ln w="25400">
            <a:solidFill>
              <a:srgbClr val="C5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46336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3848" y="2606040"/>
            <a:ext cx="658368" cy="658368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3848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4352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C53D43"/>
                </a:solidFill>
                <a:latin typeface="Arial"/>
              </a:rPr>
              <a:t>ACTUATOR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4352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Motion / light / sound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38" name="Oval 37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85</a:t>
            </a:r>
          </a:p>
        </p:txBody>
      </p:sp>
    </p:spTree>
  </p:cSld>
  <p:transition spd="fast">
    <p:fade/>
  </p:transition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C53D43"/>
                </a:solidFill>
                <a:latin typeface="Arial"/>
              </a:rPr>
              <a:t>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Why Motors Need a Driver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64208"/>
            <a:ext cx="100584" cy="2171700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C53D43"/>
                </a:solidFill>
                <a:latin typeface="Arial"/>
              </a:rPr>
              <a:t>Current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Motor startup/stall current exceeds an I/O pin's safe capability.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1664208"/>
            <a:ext cx="100584" cy="217170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E9722B"/>
                </a:solidFill>
                <a:latin typeface="Arial"/>
              </a:rPr>
              <a:t>Inductance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Switch-off generates a voltage spike that can damage electronics.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064508"/>
            <a:ext cx="100584" cy="21717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6E56CF"/>
                </a:solidFill>
                <a:latin typeface="Arial"/>
              </a:rPr>
              <a:t>Noise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Brushes and current steps disturb supply and sensor signals.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064508"/>
            <a:ext cx="100584" cy="217170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8A68"/>
                </a:solidFill>
                <a:latin typeface="Arial"/>
              </a:rPr>
              <a:t>Isolation of roles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GPIO commands; the driver and external supply deliver energy.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5" name="Oval 24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86</a:t>
            </a:r>
          </a:p>
        </p:txBody>
      </p:sp>
    </p:spTree>
  </p:cSld>
  <p:transition spd="fast">
    <p:fade/>
  </p:transition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C53D43"/>
                </a:solidFill>
                <a:latin typeface="Arial"/>
              </a:rPr>
              <a:t>SIGNAL / CONTROL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Protected DC Motor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5880" y="2606040"/>
            <a:ext cx="658368" cy="658368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C53D43"/>
                </a:solidFill>
                <a:latin typeface="Arial"/>
              </a:rPr>
              <a:t>D5 PWM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Control duty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51760" y="3611880"/>
            <a:ext cx="228600" cy="0"/>
          </a:xfrm>
          <a:prstGeom prst="line">
            <a:avLst/>
          </a:prstGeom>
          <a:ln w="25400">
            <a:solidFill>
              <a:srgbClr val="C5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47872" y="2606040"/>
            <a:ext cx="658368" cy="658368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C53D43"/>
                </a:solidFill>
                <a:latin typeface="Arial"/>
              </a:rPr>
              <a:t>GATE RESISTOR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Limit edge current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611880"/>
            <a:ext cx="228600" cy="0"/>
          </a:xfrm>
          <a:prstGeom prst="line">
            <a:avLst/>
          </a:prstGeom>
          <a:ln w="25400">
            <a:solidFill>
              <a:srgbClr val="C5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02352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9864" y="2606040"/>
            <a:ext cx="658368" cy="658368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9864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C53D43"/>
                </a:solidFill>
                <a:latin typeface="Arial"/>
              </a:rPr>
              <a:t>MOSFET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Low-side switch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95744" y="3611880"/>
            <a:ext cx="228600" cy="0"/>
          </a:xfrm>
          <a:prstGeom prst="line">
            <a:avLst/>
          </a:prstGeom>
          <a:ln w="25400">
            <a:solidFill>
              <a:srgbClr val="C5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24344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91856" y="2606040"/>
            <a:ext cx="658368" cy="658368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91856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C53D43"/>
                </a:solidFill>
                <a:latin typeface="Arial"/>
              </a:rPr>
              <a:t>FLYBACK DIODE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Clamp inductive kick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17736" y="3611880"/>
            <a:ext cx="228600" cy="0"/>
          </a:xfrm>
          <a:prstGeom prst="line">
            <a:avLst/>
          </a:prstGeom>
          <a:ln w="25400">
            <a:solidFill>
              <a:srgbClr val="C5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46336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3848" y="2606040"/>
            <a:ext cx="658368" cy="658368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3848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4352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C53D43"/>
                </a:solidFill>
                <a:latin typeface="Arial"/>
              </a:rPr>
              <a:t>MOTOR SUPPLY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4352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Deliver load current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38" name="Oval 37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87</a:t>
            </a:r>
          </a:p>
        </p:txBody>
      </p:sp>
    </p:spTree>
  </p:cSld>
  <p:transition spd="fast">
    <p:fade/>
  </p:transition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C53D43"/>
                </a:solidFill>
                <a:latin typeface="Arial"/>
              </a:rPr>
              <a:t>TIMING WAVEFORM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PWM Motor Command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20240"/>
            <a:ext cx="12344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31A22"/>
                </a:solidFill>
                <a:latin typeface="Arial"/>
              </a:rPr>
              <a:t>STOP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2011680"/>
            <a:ext cx="44805" cy="384048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65045" y="2304288"/>
            <a:ext cx="2195474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0520" y="2011680"/>
            <a:ext cx="44805" cy="384048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5325" y="2304288"/>
            <a:ext cx="2195474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44805" cy="384048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5605" y="2304288"/>
            <a:ext cx="2195474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41080" y="2011680"/>
            <a:ext cx="44805" cy="384048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5885" y="2304288"/>
            <a:ext cx="2195474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54512" y="1956816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C53D43"/>
                </a:solidFill>
                <a:latin typeface="Arial"/>
              </a:rPr>
              <a:t>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999232"/>
            <a:ext cx="12344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31A22"/>
                </a:solidFill>
                <a:latin typeface="Arial"/>
              </a:rPr>
              <a:t>LOW SPEED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3090672"/>
            <a:ext cx="784098" cy="384048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04338" y="3383280"/>
            <a:ext cx="1456182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0520" y="3090672"/>
            <a:ext cx="784098" cy="384048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44618" y="3383280"/>
            <a:ext cx="1456182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090672"/>
            <a:ext cx="784098" cy="384048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84898" y="3383280"/>
            <a:ext cx="1456182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41080" y="3090672"/>
            <a:ext cx="784098" cy="384048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25178" y="3383280"/>
            <a:ext cx="1456182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54512" y="3035808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C53D43"/>
                </a:solidFill>
                <a:latin typeface="Arial"/>
              </a:rPr>
              <a:t>35%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078224"/>
            <a:ext cx="12344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31A22"/>
                </a:solidFill>
                <a:latin typeface="Arial"/>
              </a:rPr>
              <a:t>MEDIUM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4169664"/>
            <a:ext cx="1344168" cy="384048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64408" y="4462272"/>
            <a:ext cx="896112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60520" y="4169664"/>
            <a:ext cx="1344168" cy="384048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04688" y="4462272"/>
            <a:ext cx="896112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4169664"/>
            <a:ext cx="1344168" cy="384048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44968" y="4462272"/>
            <a:ext cx="896112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41080" y="4169664"/>
            <a:ext cx="1344168" cy="384048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85248" y="4462272"/>
            <a:ext cx="896112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54512" y="4114800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C53D43"/>
                </a:solidFill>
                <a:latin typeface="Arial"/>
              </a:rPr>
              <a:t>60%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5157216"/>
            <a:ext cx="12344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31A22"/>
                </a:solidFill>
                <a:latin typeface="Arial"/>
              </a:rPr>
              <a:t>FULL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20240" y="5248656"/>
            <a:ext cx="2195474" cy="384048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5714" y="5541264"/>
            <a:ext cx="44805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60520" y="5248656"/>
            <a:ext cx="2195474" cy="384048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5994" y="5541264"/>
            <a:ext cx="44805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5248656"/>
            <a:ext cx="2195474" cy="384048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96274" y="5541264"/>
            <a:ext cx="44805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641080" y="5248656"/>
            <a:ext cx="2195474" cy="384048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836554" y="5541264"/>
            <a:ext cx="44805" cy="91440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954512" y="5193792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C53D43"/>
                </a:solidFill>
                <a:latin typeface="Arial"/>
              </a:rPr>
              <a:t>98%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232" y="5596128"/>
            <a:ext cx="10835640" cy="475488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2688" y="5696712"/>
            <a:ext cx="1037844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Commanded duty controls average drive, but actual speed depends on load, supply, motor characteristics and the driver's losses.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51" name="Oval 50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88</a:t>
            </a:r>
          </a:p>
        </p:txBody>
      </p:sp>
    </p:spTree>
  </p:cSld>
  <p:transition spd="fast">
    <p:fade/>
  </p:transition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C53D43"/>
                </a:solidFill>
                <a:latin typeface="Arial"/>
              </a:rPr>
              <a:t>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Stepper Position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64208"/>
            <a:ext cx="100584" cy="217170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73A6"/>
                </a:solidFill>
                <a:latin typeface="Arial"/>
              </a:rPr>
              <a:t>Phase sequence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Coils energise in a defined order to create incremental motion.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1664208"/>
            <a:ext cx="100584" cy="217170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8A68"/>
                </a:solidFill>
                <a:latin typeface="Arial"/>
              </a:rPr>
              <a:t>Step 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Position is inferred from commanded steps when no steps are missed.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064508"/>
            <a:ext cx="100584" cy="217170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E9722B"/>
                </a:solidFill>
                <a:latin typeface="Arial"/>
              </a:rPr>
              <a:t>Speed/torque tradeoff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Excessive step rate causes vibration or lost steps.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064508"/>
            <a:ext cx="100584" cy="21717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6E56CF"/>
                </a:solidFill>
                <a:latin typeface="Arial"/>
              </a:rPr>
              <a:t>Driver array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ULN2003 channels sink coil current and include protection diodes.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5" name="Oval 24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89</a:t>
            </a:r>
          </a:p>
        </p:txBody>
      </p:sp>
    </p:spTree>
  </p:cSld>
  <p:transition spd="fast">
    <p:fade/>
  </p:transition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C53D43"/>
                </a:solidFill>
                <a:latin typeface="Arial"/>
              </a:rPr>
              <a:t>SIGNAL / CONTROL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ULN2003 Stepper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5880" y="2606040"/>
            <a:ext cx="658368" cy="658368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C53D43"/>
                </a:solidFill>
                <a:latin typeface="Arial"/>
              </a:rPr>
              <a:t>D8-D11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Four logic phases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51760" y="3611880"/>
            <a:ext cx="228600" cy="0"/>
          </a:xfrm>
          <a:prstGeom prst="line">
            <a:avLst/>
          </a:prstGeom>
          <a:ln w="25400">
            <a:solidFill>
              <a:srgbClr val="C5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47872" y="2606040"/>
            <a:ext cx="658368" cy="658368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C53D43"/>
                </a:solidFill>
                <a:latin typeface="Arial"/>
              </a:rPr>
              <a:t>IN1-IN4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Driver inputs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611880"/>
            <a:ext cx="228600" cy="0"/>
          </a:xfrm>
          <a:prstGeom prst="line">
            <a:avLst/>
          </a:prstGeom>
          <a:ln w="25400">
            <a:solidFill>
              <a:srgbClr val="C5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02352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9864" y="2606040"/>
            <a:ext cx="658368" cy="658368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9864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C53D43"/>
                </a:solidFill>
                <a:latin typeface="Arial"/>
              </a:rPr>
              <a:t>DARLINGTON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Current amplification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95744" y="3611880"/>
            <a:ext cx="228600" cy="0"/>
          </a:xfrm>
          <a:prstGeom prst="line">
            <a:avLst/>
          </a:prstGeom>
          <a:ln w="25400">
            <a:solidFill>
              <a:srgbClr val="C5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24344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91856" y="2606040"/>
            <a:ext cx="658368" cy="658368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91856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C53D43"/>
                </a:solidFill>
                <a:latin typeface="Arial"/>
              </a:rPr>
              <a:t>COM DIODES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Inductive protection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17736" y="3611880"/>
            <a:ext cx="228600" cy="0"/>
          </a:xfrm>
          <a:prstGeom prst="line">
            <a:avLst/>
          </a:prstGeom>
          <a:ln w="25400">
            <a:solidFill>
              <a:srgbClr val="C5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46336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3848" y="2606040"/>
            <a:ext cx="658368" cy="658368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3848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4352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C53D43"/>
                </a:solidFill>
                <a:latin typeface="Arial"/>
              </a:rPr>
              <a:t>28BYJ-48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4352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Geared position output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38" name="Oval 37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90</a:t>
            </a:r>
          </a:p>
        </p:txBody>
      </p:sp>
    </p:spTree>
  </p:cSld>
  <p:transition spd="fast">
    <p:fade/>
  </p:transition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C53D43"/>
                </a:solidFill>
                <a:latin typeface="Arial"/>
              </a:rPr>
              <a:t>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DHT11 Transaction and Validity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64208"/>
            <a:ext cx="100584" cy="217170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73A6"/>
                </a:solidFill>
                <a:latin typeface="Arial"/>
              </a:rPr>
              <a:t>Command/read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The library manages the sensor's timing-sensitive exchange.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1664208"/>
            <a:ext cx="100584" cy="217170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8A68"/>
                </a:solidFill>
                <a:latin typeface="Arial"/>
              </a:rPr>
              <a:t>Sample interval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The device is slow; repeated reads must respect its timing.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064508"/>
            <a:ext cx="100584" cy="2171700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C53D43"/>
                </a:solidFill>
                <a:latin typeface="Arial"/>
              </a:rPr>
              <a:t>NaN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A failed transaction is not a temperature or humidity value.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064508"/>
            <a:ext cx="100584" cy="217170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E9722B"/>
                </a:solidFill>
                <a:latin typeface="Arial"/>
              </a:rPr>
              <a:t>Control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Actuator decisions run only when the measurement is valid.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5" name="Oval 24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91</a:t>
            </a:r>
          </a:p>
        </p:txBody>
      </p:sp>
    </p:spTree>
  </p:cSld>
  <p:transition spd="fast">
    <p:fade/>
  </p:transition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C53D43"/>
                </a:solidFill>
                <a:latin typeface="Arial"/>
              </a:rPr>
              <a:t>RUNNABLE CODE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Reject Invalid Measurements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7040880" cy="4443984"/>
          </a:xfrm>
          <a:prstGeom prst="round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6565392" cy="39776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D7F9F1"/>
                </a:solidFill>
                <a:latin typeface="Courier New"/>
              </a:rPr>
              <a:t>float t = dht.readTemperature();
float h = dht.readHumidity();
if (isnan(t) || isnan(h)) {
  Serial.println("READ_ERROR");
  return;
}
// Only valid values reach control logic.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3568" y="1755648"/>
            <a:ext cx="3602736" cy="4443984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C53D43"/>
                </a:solidFill>
                <a:latin typeface="Arial"/>
              </a:rPr>
              <a:t>READ THE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8229600" y="2587752"/>
            <a:ext cx="310896" cy="310896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606040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5088" y="2569464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Acquire both measurements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0" y="3429000"/>
            <a:ext cx="310896" cy="310896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447288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5088" y="3410712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isnan() detects failed conversion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0" y="4270248"/>
            <a:ext cx="310896" cy="310896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288536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4251960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Fault state is reported explicitly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0" y="5111496"/>
            <a:ext cx="310896" cy="310896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5129783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5093208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return prevents unsafe false control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5" name="Oval 24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92</a:t>
            </a:r>
          </a:p>
        </p:txBody>
      </p:sp>
    </p:spTree>
  </p:cSld>
  <p:transition spd="fast">
    <p:fade/>
  </p:transition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C53D43"/>
                </a:solidFill>
                <a:latin typeface="Arial"/>
              </a:rPr>
              <a:t>EDITABLE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Fan Hysteresis Controller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21792" y="2496312"/>
            <a:ext cx="1316736" cy="1316736"/>
          </a:xfrm>
          <a:prstGeom prst="ellipse">
            <a:avLst/>
          </a:prstGeom>
          <a:solidFill>
            <a:srgbClr val="F4F7F9"/>
          </a:solidFill>
          <a:ln>
            <a:solidFill>
              <a:srgbClr val="C53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2834640"/>
            <a:ext cx="11704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C53D43"/>
                </a:solidFill>
                <a:latin typeface="Arial"/>
              </a:rPr>
              <a:t>FAN 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3246120"/>
            <a:ext cx="1207008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80" b="0">
                <a:solidFill>
                  <a:srgbClr val="131A22"/>
                </a:solidFill>
                <a:latin typeface="Arial"/>
              </a:rPr>
              <a:t>T &lt; 30 C</a:t>
            </a:r>
          </a:p>
        </p:txBody>
      </p:sp>
      <p:sp>
        <p:nvSpPr>
          <p:cNvPr id="9" name="Oval 8"/>
          <p:cNvSpPr/>
          <p:nvPr/>
        </p:nvSpPr>
        <p:spPr>
          <a:xfrm>
            <a:off x="3883152" y="2496312"/>
            <a:ext cx="1316736" cy="1316736"/>
          </a:xfrm>
          <a:prstGeom prst="ellipse">
            <a:avLst/>
          </a:prstGeom>
          <a:solidFill>
            <a:srgbClr val="F4F7F9"/>
          </a:solidFill>
          <a:ln>
            <a:solidFill>
              <a:srgbClr val="C53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56304" y="2834640"/>
            <a:ext cx="11704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C53D43"/>
                </a:solidFill>
                <a:latin typeface="Arial"/>
              </a:rPr>
              <a:t>FAN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8016" y="3246120"/>
            <a:ext cx="1207008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80" b="0">
                <a:solidFill>
                  <a:srgbClr val="131A22"/>
                </a:solidFill>
                <a:latin typeface="Arial"/>
              </a:rPr>
              <a:t>T &gt;= 30 C</a:t>
            </a:r>
          </a:p>
        </p:txBody>
      </p:sp>
      <p:sp>
        <p:nvSpPr>
          <p:cNvPr id="12" name="Oval 11"/>
          <p:cNvSpPr/>
          <p:nvPr/>
        </p:nvSpPr>
        <p:spPr>
          <a:xfrm>
            <a:off x="7144512" y="2496312"/>
            <a:ext cx="1316736" cy="1316736"/>
          </a:xfrm>
          <a:prstGeom prst="ellipse">
            <a:avLst/>
          </a:prstGeom>
          <a:solidFill>
            <a:srgbClr val="F4F7F9"/>
          </a:solidFill>
          <a:ln>
            <a:solidFill>
              <a:srgbClr val="C53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17664" y="2834640"/>
            <a:ext cx="11704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C53D43"/>
                </a:solidFill>
                <a:latin typeface="Arial"/>
              </a:rPr>
              <a:t>HOLD 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9376" y="3246120"/>
            <a:ext cx="1207008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80" b="0">
                <a:solidFill>
                  <a:srgbClr val="131A22"/>
                </a:solidFill>
                <a:latin typeface="Arial"/>
              </a:rPr>
              <a:t>28-30 C</a:t>
            </a:r>
          </a:p>
        </p:txBody>
      </p:sp>
      <p:sp>
        <p:nvSpPr>
          <p:cNvPr id="15" name="Oval 14"/>
          <p:cNvSpPr/>
          <p:nvPr/>
        </p:nvSpPr>
        <p:spPr>
          <a:xfrm>
            <a:off x="10405872" y="2496312"/>
            <a:ext cx="1316736" cy="1316736"/>
          </a:xfrm>
          <a:prstGeom prst="ellipse">
            <a:avLst/>
          </a:prstGeom>
          <a:solidFill>
            <a:srgbClr val="F4F7F9"/>
          </a:solidFill>
          <a:ln>
            <a:solidFill>
              <a:srgbClr val="C53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79024" y="2834640"/>
            <a:ext cx="11704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C53D43"/>
                </a:solidFill>
                <a:latin typeface="Arial"/>
              </a:rPr>
              <a:t>FAN 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0736" y="3246120"/>
            <a:ext cx="1207008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80" b="0">
                <a:solidFill>
                  <a:srgbClr val="131A22"/>
                </a:solidFill>
                <a:latin typeface="Arial"/>
              </a:rPr>
              <a:t>T &lt;= 28 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65960" y="3154680"/>
            <a:ext cx="1889760" cy="0"/>
          </a:xfrm>
          <a:prstGeom prst="line">
            <a:avLst/>
          </a:prstGeom>
          <a:ln w="25400">
            <a:solidFill>
              <a:srgbClr val="C5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316480" y="2560320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1">
                <a:solidFill>
                  <a:srgbClr val="576470"/>
                </a:solidFill>
                <a:latin typeface="Arial"/>
              </a:rPr>
              <a:t>warm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227320" y="3154680"/>
            <a:ext cx="1889760" cy="0"/>
          </a:xfrm>
          <a:prstGeom prst="line">
            <a:avLst/>
          </a:prstGeom>
          <a:ln w="25400">
            <a:solidFill>
              <a:srgbClr val="C5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577840" y="2560320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1">
                <a:solidFill>
                  <a:srgbClr val="576470"/>
                </a:solidFill>
                <a:latin typeface="Arial"/>
              </a:rPr>
              <a:t>cool slightly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88680" y="3154680"/>
            <a:ext cx="1889760" cy="0"/>
          </a:xfrm>
          <a:prstGeom prst="line">
            <a:avLst/>
          </a:prstGeom>
          <a:ln w="25400">
            <a:solidFill>
              <a:srgbClr val="C5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839200" y="2560320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1">
                <a:solidFill>
                  <a:srgbClr val="576470"/>
                </a:solidFill>
                <a:latin typeface="Arial"/>
              </a:rPr>
              <a:t>cool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594360" y="3154680"/>
            <a:ext cx="11155680" cy="0"/>
          </a:xfrm>
          <a:prstGeom prst="line">
            <a:avLst/>
          </a:prstGeom>
          <a:ln w="25400">
            <a:solidFill>
              <a:srgbClr val="C5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577840" y="2560320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1">
                <a:solidFill>
                  <a:srgbClr val="576470"/>
                </a:solidFill>
                <a:latin typeface="Arial"/>
              </a:rPr>
              <a:t>warm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074920"/>
            <a:ext cx="10287000" cy="64008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5285232"/>
            <a:ext cx="98755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1">
                <a:solidFill>
                  <a:srgbClr val="131A22"/>
                </a:solidFill>
                <a:latin typeface="Arial"/>
              </a:rPr>
              <a:t>A state machine makes every output, entry condition, exit condition, and safe default inspectable.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31" name="Oval 30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93</a:t>
            </a:r>
          </a:p>
        </p:txBody>
      </p:sp>
    </p:spTree>
  </p:cSld>
  <p:transition spd="fast">
    <p:fade/>
  </p:transition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C53D43"/>
                </a:solidFill>
                <a:latin typeface="Arial"/>
              </a:rPr>
              <a:t>OBSERVE -&gt; COMPARE -&gt;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Actuator Failure Modes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1828800"/>
            <a:ext cx="1965960" cy="530352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65960"/>
            <a:ext cx="174650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660904" y="1828800"/>
            <a:ext cx="2971800" cy="530352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0632" y="1965960"/>
            <a:ext cx="275234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EXPECTED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2704" y="1828800"/>
            <a:ext cx="2971800" cy="530352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42432" y="1965960"/>
            <a:ext cx="275234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04504" y="1828800"/>
            <a:ext cx="2834640" cy="530352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1965960"/>
            <a:ext cx="261518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DECISION / 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" y="2359152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478024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No motion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60904" y="2359152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0632" y="2478024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No supply/drive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32704" y="2359152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2478024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Measure supply/gate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04504" y="2359152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478024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Fix power stage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" y="3346704"/>
            <a:ext cx="196596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465576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Resets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60904" y="3346704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70632" y="3465576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Supply dip/noise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32704" y="3346704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42432" y="3465576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Serial reset trace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04504" y="3346704"/>
            <a:ext cx="283464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3465576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Separate/decouple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" y="4334256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453128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Hot driver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0904" y="4334256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0632" y="4453128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Wrong device/current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32704" y="4334256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42432" y="4453128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Temperature/current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04504" y="4334256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14232" y="4453128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Reduce load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4944" y="5321808"/>
            <a:ext cx="196596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5440680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Lost steps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60904" y="5321808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70632" y="5440680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Rate too high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32704" y="5321808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42432" y="5440680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Position error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04504" y="5321808"/>
            <a:ext cx="283464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14232" y="5440680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Lower speed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49" name="Oval 48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94</a:t>
            </a:r>
          </a:p>
        </p:txBody>
      </p:sp>
    </p:spTree>
  </p:cSld>
  <p:transition spd="fast">
    <p:fade/>
  </p:transition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C53D43"/>
                </a:solidFill>
                <a:latin typeface="Arial"/>
              </a:rPr>
              <a:t>PRACTICE BRIDGE  |  LO5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Lab 10: DHT11 Temperature and Humidity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675120" cy="18288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6126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C53D43"/>
                </a:solidFill>
                <a:latin typeface="Arial"/>
              </a:rPr>
              <a:t>MECHANISM TO PROVE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612648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31A22"/>
                </a:solidFill>
                <a:latin typeface="Arial"/>
              </a:rPr>
              <a:t>Read a library-managed digital sensor transaction and reject invalid measurements before control 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783080"/>
            <a:ext cx="3931920" cy="1828800"/>
          </a:xfrm>
          <a:prstGeom prst="round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2011680"/>
            <a:ext cx="3383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7DE7D2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487168"/>
            <a:ext cx="3383280" cy="8961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A one-hertz temperature/humidity monitor that identifies NaN failures instead of treating them as real values.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C53D43"/>
                </a:solidFill>
                <a:latin typeface="Arial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DHT VCC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30118" y="4727447"/>
            <a:ext cx="219456" cy="0"/>
          </a:xfrm>
          <a:prstGeom prst="line">
            <a:avLst/>
          </a:prstGeom>
          <a:ln w="21590">
            <a:solidFill>
              <a:srgbClr val="C5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49574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6734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C53D43"/>
                </a:solidFill>
                <a:latin typeface="Arial"/>
              </a:rPr>
              <a:t>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6734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#include &lt;DHT.h&gt;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4727447"/>
            <a:ext cx="219456" cy="0"/>
          </a:xfrm>
          <a:prstGeom prst="line">
            <a:avLst/>
          </a:prstGeom>
          <a:ln w="21590">
            <a:solidFill>
              <a:srgbClr val="C5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13348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508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C53D43"/>
                </a:solidFill>
                <a:latin typeface="Arial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508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Temperature and humidity update approximately once per second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57666" y="4727447"/>
            <a:ext cx="219456" cy="0"/>
          </a:xfrm>
          <a:prstGeom prst="line">
            <a:avLst/>
          </a:prstGeom>
          <a:ln w="21590">
            <a:solidFill>
              <a:srgbClr val="C5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77122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14282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C53D43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4282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dht.begin() is called in setup()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30" name="Oval 29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95</a:t>
            </a:r>
          </a:p>
        </p:txBody>
      </p:sp>
    </p:spTree>
  </p:cSld>
  <p:transition spd="fast">
    <p:fade/>
  </p:transition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C53D43"/>
                </a:solidFill>
                <a:latin typeface="Arial"/>
              </a:rPr>
              <a:t>OBSERVE -&gt; COMPARE -&gt;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Lab 10 DHT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1828800"/>
            <a:ext cx="1965960" cy="530352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65960"/>
            <a:ext cx="174650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660904" y="1828800"/>
            <a:ext cx="2971800" cy="530352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0632" y="1965960"/>
            <a:ext cx="275234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EXPECTED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2704" y="1828800"/>
            <a:ext cx="2971800" cy="530352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42432" y="1965960"/>
            <a:ext cx="275234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04504" y="1828800"/>
            <a:ext cx="2834640" cy="530352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1965960"/>
            <a:ext cx="261518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DECISION / 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" y="2359152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478024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Room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60904" y="2359152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0632" y="2478024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Plausible T/RH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32704" y="2359152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2478024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Serial trace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04504" y="2359152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478024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Valid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" y="3346704"/>
            <a:ext cx="196596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465576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Warm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60904" y="3346704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70632" y="3465576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Temperature rises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32704" y="3346704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42432" y="3465576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Serial trace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04504" y="3346704"/>
            <a:ext cx="283464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3465576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Sensor responds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" y="4334256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453128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Data open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0904" y="4334256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0632" y="4453128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READ_ERROR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32704" y="4334256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42432" y="4453128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Fault trace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04504" y="4334256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14232" y="4453128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Invalid rejected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41" name="Oval 40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96</a:t>
            </a:r>
          </a:p>
        </p:txBody>
      </p:sp>
    </p:spTree>
  </p:cSld>
  <p:transition spd="fast">
    <p:fade/>
  </p:transition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C53D43"/>
                </a:solidFill>
                <a:latin typeface="Arial"/>
              </a:rPr>
              <a:t>PRACTICE BRIDGE  |  LO5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Lab 11: Stepper Motor Position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675120" cy="18288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6126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C53D43"/>
                </a:solidFill>
                <a:latin typeface="Arial"/>
              </a:rPr>
              <a:t>MECHANISM TO PROVE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612648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31A22"/>
                </a:solidFill>
                <a:latin typeface="Arial"/>
              </a:rPr>
              <a:t>Drive a four-phase stepper through a transistor array and relate commanded steps to angular position.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783080"/>
            <a:ext cx="3931920" cy="1828800"/>
          </a:xfrm>
          <a:prstGeom prst="round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2011680"/>
            <a:ext cx="3383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7DE7D2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487168"/>
            <a:ext cx="3383280" cy="8961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A 28BYJ-48/ULN2003 actuator that moves one revolution forward and backward at a bounded speed.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C53D43"/>
                </a:solidFill>
                <a:latin typeface="Arial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D8-D11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30118" y="4727447"/>
            <a:ext cx="219456" cy="0"/>
          </a:xfrm>
          <a:prstGeom prst="line">
            <a:avLst/>
          </a:prstGeom>
          <a:ln w="21590">
            <a:solidFill>
              <a:srgbClr val="C5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49574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6734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C53D43"/>
                </a:solidFill>
                <a:latin typeface="Arial"/>
              </a:rPr>
              <a:t>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6734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#include &lt;Stepper.h&gt;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4727447"/>
            <a:ext cx="219456" cy="0"/>
          </a:xfrm>
          <a:prstGeom prst="line">
            <a:avLst/>
          </a:prstGeom>
          <a:ln w="21590">
            <a:solidFill>
              <a:srgbClr val="C5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13348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508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C53D43"/>
                </a:solidFill>
                <a:latin typeface="Arial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508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Motor completes a forward and reverse move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57666" y="4727447"/>
            <a:ext cx="219456" cy="0"/>
          </a:xfrm>
          <a:prstGeom prst="line">
            <a:avLst/>
          </a:prstGeom>
          <a:ln w="21590">
            <a:solidFill>
              <a:srgbClr val="C5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77122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14282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C53D43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4282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Grounds are common and board remains stable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30" name="Oval 29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97</a:t>
            </a:r>
          </a:p>
        </p:txBody>
      </p:sp>
    </p:spTree>
  </p:cSld>
  <p:transition spd="fast">
    <p:fade/>
  </p:transition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C53D43"/>
                </a:solidFill>
                <a:latin typeface="Arial"/>
              </a:rPr>
              <a:t>SIGNAL / CONTROL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Lab 11 Phase-to-Position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5880" y="2606040"/>
            <a:ext cx="658368" cy="658368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C53D43"/>
                </a:solidFill>
                <a:latin typeface="Arial"/>
              </a:rPr>
              <a:t>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+2048 / -2048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51760" y="3611880"/>
            <a:ext cx="228600" cy="0"/>
          </a:xfrm>
          <a:prstGeom prst="line">
            <a:avLst/>
          </a:prstGeom>
          <a:ln w="25400">
            <a:solidFill>
              <a:srgbClr val="C5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47872" y="2606040"/>
            <a:ext cx="658368" cy="658368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C53D43"/>
                </a:solidFill>
                <a:latin typeface="Arial"/>
              </a:rPr>
              <a:t>LIBRARY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Phase order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611880"/>
            <a:ext cx="228600" cy="0"/>
          </a:xfrm>
          <a:prstGeom prst="line">
            <a:avLst/>
          </a:prstGeom>
          <a:ln w="25400">
            <a:solidFill>
              <a:srgbClr val="C5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02352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9864" y="2606040"/>
            <a:ext cx="658368" cy="658368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9864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C53D43"/>
                </a:solidFill>
                <a:latin typeface="Arial"/>
              </a:rPr>
              <a:t>ULN2003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Coil current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95744" y="3611880"/>
            <a:ext cx="228600" cy="0"/>
          </a:xfrm>
          <a:prstGeom prst="line">
            <a:avLst/>
          </a:prstGeom>
          <a:ln w="25400">
            <a:solidFill>
              <a:srgbClr val="C5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24344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91856" y="2606040"/>
            <a:ext cx="658368" cy="658368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91856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C53D43"/>
                </a:solidFill>
                <a:latin typeface="Arial"/>
              </a:rPr>
              <a:t>GEARBOX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Mechanical reduction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17736" y="3611880"/>
            <a:ext cx="228600" cy="0"/>
          </a:xfrm>
          <a:prstGeom prst="line">
            <a:avLst/>
          </a:prstGeom>
          <a:ln w="25400">
            <a:solidFill>
              <a:srgbClr val="C5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46336" y="2286000"/>
            <a:ext cx="1993392" cy="2651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3848" y="2606040"/>
            <a:ext cx="658368" cy="658368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3848" y="2651760"/>
            <a:ext cx="658368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4352" y="3429000"/>
            <a:ext cx="17373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C53D43"/>
                </a:solidFill>
                <a:latin typeface="Arial"/>
              </a:rPr>
              <a:t>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4352" y="3950208"/>
            <a:ext cx="173736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0">
                <a:solidFill>
                  <a:srgbClr val="131A22"/>
                </a:solidFill>
                <a:latin typeface="Arial"/>
              </a:rPr>
              <a:t>Marked shaft position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38" name="Oval 37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98</a:t>
            </a:r>
          </a:p>
        </p:txBody>
      </p:sp>
    </p:spTree>
  </p:cSld>
  <p:transition spd="fast">
    <p:fade/>
  </p:transition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C53D43"/>
                </a:solidFill>
                <a:latin typeface="Arial"/>
              </a:rPr>
              <a:t>OBSERVE -&gt; COMPARE -&gt;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Lab 11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1828800"/>
            <a:ext cx="1965960" cy="530352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65960"/>
            <a:ext cx="174650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660904" y="1828800"/>
            <a:ext cx="2971800" cy="530352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0632" y="1965960"/>
            <a:ext cx="275234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EXPECTED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2704" y="1828800"/>
            <a:ext cx="2971800" cy="530352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42432" y="1965960"/>
            <a:ext cx="275234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04504" y="1828800"/>
            <a:ext cx="2834640" cy="530352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1965960"/>
            <a:ext cx="261518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DECISION / 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" y="2359152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478024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Forward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60904" y="2359152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0632" y="2478024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One revolution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32704" y="2359152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2478024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Shaft mark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04504" y="2359152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478024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Position close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" y="3346704"/>
            <a:ext cx="196596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465576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Reverse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60904" y="3346704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70632" y="3465576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Return to origin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32704" y="3346704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42432" y="3465576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Shaft mark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04504" y="3346704"/>
            <a:ext cx="283464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3465576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Direction proven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" y="4334256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453128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Higher speed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0904" y="4334256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0632" y="4453128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Possible missed steps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32704" y="4334256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42432" y="4453128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Position error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04504" y="4334256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14232" y="4453128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Set safe rate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41" name="Oval 40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99</a:t>
            </a:r>
          </a:p>
        </p:txBody>
      </p:sp>
    </p:spTree>
  </p:cSld>
  <p:transition spd="fast">
    <p:fade/>
  </p:transition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C53D43"/>
                </a:solidFill>
                <a:latin typeface="Arial"/>
              </a:rPr>
              <a:t>PRACTICE BRIDGE  |  LO5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Lab 12: DHT Fan Controller with Hysteresis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675120" cy="18288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6126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C53D43"/>
                </a:solidFill>
                <a:latin typeface="Arial"/>
              </a:rPr>
              <a:t>MECHANISM TO PROVE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612648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31A22"/>
                </a:solidFill>
                <a:latin typeface="Arial"/>
              </a:rPr>
              <a:t>Integrate measurement, decision logic, and a protected continuous-drive actuator into a feedback controller.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783080"/>
            <a:ext cx="3931920" cy="1828800"/>
          </a:xfrm>
          <a:prstGeom prst="round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2011680"/>
            <a:ext cx="3383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7DE7D2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487168"/>
            <a:ext cx="3383280" cy="8961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A temperature-controlled DC fan with MOSFET switching, flyback protection, PWM drive, and hysteresis.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C53D43"/>
                </a:solidFill>
                <a:latin typeface="Arial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DHT DATA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30118" y="4727447"/>
            <a:ext cx="219456" cy="0"/>
          </a:xfrm>
          <a:prstGeom prst="line">
            <a:avLst/>
          </a:prstGeom>
          <a:ln w="21590">
            <a:solidFill>
              <a:srgbClr val="C5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49574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6734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C53D43"/>
                </a:solidFill>
                <a:latin typeface="Arial"/>
              </a:rPr>
              <a:t>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6734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#include &lt;DHT.h&gt;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4727447"/>
            <a:ext cx="219456" cy="0"/>
          </a:xfrm>
          <a:prstGeom prst="line">
            <a:avLst/>
          </a:prstGeom>
          <a:ln w="21590">
            <a:solidFill>
              <a:srgbClr val="C5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13348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508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C53D43"/>
                </a:solidFill>
                <a:latin typeface="Arial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508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Fan turns ON above 30 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57666" y="4727447"/>
            <a:ext cx="219456" cy="0"/>
          </a:xfrm>
          <a:prstGeom prst="line">
            <a:avLst/>
          </a:prstGeom>
          <a:ln w="21590">
            <a:solidFill>
              <a:srgbClr val="C5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77122" y="3977639"/>
            <a:ext cx="2544318" cy="15087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14282" y="4160519"/>
            <a:ext cx="2269998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50" b="1">
                <a:solidFill>
                  <a:srgbClr val="C53D43"/>
                </a:solidFill>
                <a:latin typeface="Arial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4282" y="4544567"/>
            <a:ext cx="2269998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>
                <a:solidFill>
                  <a:srgbClr val="131A22"/>
                </a:solidFill>
                <a:latin typeface="Arial"/>
              </a:rPr>
              <a:t>Motor current never flows through an Arduino I/O pin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30" name="Oval 29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100</a:t>
            </a:r>
          </a:p>
        </p:txBody>
      </p:sp>
    </p:spTree>
  </p:cSld>
  <p:transition spd="fast">
    <p:fade/>
  </p:transition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C53D43"/>
                </a:solidFill>
                <a:latin typeface="Arial"/>
              </a:rPr>
              <a:t>RUNNABLE CODE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Lab 12 Feedback Controller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7040880" cy="4443984"/>
          </a:xfrm>
          <a:prstGeom prst="round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6565392" cy="39776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D7F9F1"/>
                </a:solidFill>
                <a:latin typeface="Courier New"/>
              </a:rPr>
              <a:t>#include &lt;DHT.h&gt;
const uint8_t DHT_PIN = 2;
const uint8_t FAN_PWM_PIN = 5;
const float FAN_ON_C = 30.0;
const float FAN_OFF_C = 28.0;
DHT dht(DHT_PIN, DHT11);
bool fanOn = false;
void setup() {
  pinMode(FAN_PWM_PIN, OUTPUT);
  Serial.begin(9600);
  dht.begin();
}
void loop() {
  float t = dht.readTemperature();
  if (isnan(t)) { Serial.println("READ_ERROR"); delay(2000); return; }
  if (!fanOn &amp;&amp; t &gt;= FAN_ON_C) fanOn = true;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3568" y="1755648"/>
            <a:ext cx="3602736" cy="4443984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C53D43"/>
                </a:solidFill>
                <a:latin typeface="Arial"/>
              </a:rPr>
              <a:t>READ THE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8229600" y="2587752"/>
            <a:ext cx="310896" cy="310896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606040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5088" y="2569464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Invalid sensor value exits before control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0" y="3429000"/>
            <a:ext cx="310896" cy="310896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447288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5088" y="3410712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Separate ON/OFF thresholds prevent chatter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0" y="4270248"/>
            <a:ext cx="310896" cy="310896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288536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4251960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PWM pin commands the MOSFET, not the motor directly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0" y="5111496"/>
            <a:ext cx="310896" cy="310896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5129783"/>
            <a:ext cx="310896" cy="228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5093208"/>
            <a:ext cx="260604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31A22"/>
                </a:solidFill>
                <a:latin typeface="Arial"/>
              </a:rPr>
              <a:t>Serial trace records measurement and actuator state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5" name="Oval 24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101</a:t>
            </a:r>
          </a:p>
        </p:txBody>
      </p:sp>
    </p:spTree>
  </p:cSld>
  <p:transition spd="fast">
    <p:fade/>
  </p:transition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C53D43"/>
                </a:solidFill>
                <a:latin typeface="Arial"/>
              </a:rPr>
              <a:t>OBSERVE -&gt; COMPARE -&gt;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Lab 12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1828800"/>
            <a:ext cx="1965960" cy="530352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65960"/>
            <a:ext cx="174650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660904" y="1828800"/>
            <a:ext cx="2971800" cy="530352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0632" y="1965960"/>
            <a:ext cx="275234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EXPECTED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2704" y="1828800"/>
            <a:ext cx="2971800" cy="530352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42432" y="1965960"/>
            <a:ext cx="275234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04504" y="1828800"/>
            <a:ext cx="2834640" cy="530352"/>
          </a:xfrm>
          <a:prstGeom prst="rect">
            <a:avLst/>
          </a:prstGeom>
          <a:solidFill>
            <a:srgbClr val="C53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1965960"/>
            <a:ext cx="261518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DECISION / 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" y="2359152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478024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&gt;=30 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60904" y="2359152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0632" y="2478024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Fan 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32704" y="2359152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2478024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T/FAN trace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04504" y="2359152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478024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Control enters 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" y="3346704"/>
            <a:ext cx="196596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465576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28-30 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60904" y="3346704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70632" y="3465576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Hold prior state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32704" y="3346704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42432" y="3465576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T/FAN trace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04504" y="3346704"/>
            <a:ext cx="283464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3465576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Hysteresis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" y="4334256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453128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&lt;=28 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0904" y="4334256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0632" y="4453128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Fan OFF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32704" y="4334256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42432" y="4453128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T/FAN trace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04504" y="4334256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14232" y="4453128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Control exits 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41" name="Oval 40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C53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102</a:t>
            </a:r>
          </a:p>
        </p:txBody>
      </p:sp>
    </p:spTree>
  </p:cSld>
  <p:transition spd="fast">
    <p:fade/>
  </p:transition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8A68"/>
                </a:solidFill>
                <a:latin typeface="Arial"/>
              </a:rPr>
              <a:t>OBSERVE -&gt; COMPARE -&gt;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Course Verification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1828800"/>
            <a:ext cx="1965960" cy="530352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65960"/>
            <a:ext cx="174650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660904" y="1828800"/>
            <a:ext cx="2971800" cy="530352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0632" y="1965960"/>
            <a:ext cx="275234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EXPECTED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2704" y="1828800"/>
            <a:ext cx="2971800" cy="530352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42432" y="1965960"/>
            <a:ext cx="275234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04504" y="1828800"/>
            <a:ext cx="2834640" cy="530352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1965960"/>
            <a:ext cx="2615184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DECISION / 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" y="2359152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478024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LO1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60904" y="2359152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0632" y="2478024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Board/serial mechanism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32704" y="2359152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2478024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Labs 1-2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04504" y="2359152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478024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Topic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" y="3346704"/>
            <a:ext cx="196596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465576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LO2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60904" y="3346704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70632" y="3465576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Safe circuits/input/PWM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32704" y="3346704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42432" y="3465576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Labs 3-5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04504" y="3346704"/>
            <a:ext cx="283464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3465576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Topic 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" y="4334256"/>
            <a:ext cx="19659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453128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LO3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0904" y="4334256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0632" y="4453128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ADC/LDR/servo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32704" y="4334256"/>
            <a:ext cx="2971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42432" y="4453128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Labs 6-7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04504" y="4334256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14232" y="4453128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Topic 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4944" y="5321808"/>
            <a:ext cx="196596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5440680"/>
            <a:ext cx="174650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1">
                <a:solidFill>
                  <a:srgbClr val="131A22"/>
                </a:solidFill>
                <a:latin typeface="Arial"/>
              </a:rPr>
              <a:t>LO4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60904" y="5321808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70632" y="5440680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Ultrasonic/PIR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32704" y="5321808"/>
            <a:ext cx="297180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42432" y="5440680"/>
            <a:ext cx="275234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Labs 8-9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04504" y="5321808"/>
            <a:ext cx="2834640" cy="98755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14232" y="5440680"/>
            <a:ext cx="2615184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50" b="0">
                <a:solidFill>
                  <a:srgbClr val="131A22"/>
                </a:solidFill>
                <a:latin typeface="Arial"/>
              </a:rPr>
              <a:t>Topic 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49" name="Oval 48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103</a:t>
            </a:r>
          </a:p>
        </p:txBody>
      </p:sp>
    </p:spTree>
  </p:cSld>
  <p:transition spd="fast">
    <p:fade/>
  </p:transition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8A68"/>
                </a:solidFill>
                <a:latin typeface="Arial"/>
              </a:rPr>
              <a:t>CLOSE-OUT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Course Feedback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64208"/>
            <a:ext cx="100584" cy="217170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73A6"/>
                </a:solidFill>
                <a:latin typeface="Arial"/>
              </a:rPr>
              <a:t>Course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Complete the feedback form in LMS/TMS.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1664208"/>
            <a:ext cx="100584" cy="217170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8A68"/>
                </a:solidFill>
                <a:latin typeface="Arial"/>
              </a:rPr>
              <a:t>Your comments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Tell the trainer what worked and what to improve.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064508"/>
            <a:ext cx="100584" cy="217170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E9722B"/>
                </a:solidFill>
                <a:latin typeface="Arial"/>
              </a:rPr>
              <a:t>Completion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Confirm the portal records your feedback.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064508"/>
            <a:ext cx="100584" cy="21717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6E56CF"/>
                </a:solidFill>
                <a:latin typeface="Arial"/>
              </a:rPr>
              <a:t>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Keep the Learner Guide and labs for post-course practice.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5" name="Oval 24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104</a:t>
            </a:r>
          </a:p>
        </p:txBody>
      </p:sp>
    </p:spTree>
  </p:cSld>
  <p:transition spd="fast">
    <p:fade/>
  </p:transition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246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008A68"/>
                </a:solidFill>
                <a:latin typeface="Arial"/>
              </a:rPr>
              <a:t>AFTER-CLASS 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31A22"/>
                </a:solidFill>
                <a:latin typeface="Arial"/>
              </a:rPr>
              <a:t>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9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64208"/>
            <a:ext cx="100584" cy="2171700"/>
          </a:xfrm>
          <a:prstGeom prst="rect">
            <a:avLst/>
          </a:prstGeom>
          <a:solidFill>
            <a:srgbClr val="007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73A6"/>
                </a:solidFill>
                <a:latin typeface="Arial"/>
              </a:rPr>
              <a:t>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6642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1664208"/>
            <a:ext cx="100584" cy="2171700"/>
          </a:xfrm>
          <a:prstGeom prst="rect">
            <a:avLst/>
          </a:prstGeom>
          <a:solidFill>
            <a:srgbClr val="008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8288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8A68"/>
                </a:solidFill>
                <a:latin typeface="Arial"/>
              </a:rPr>
              <a:t>Telephone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3042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+65 6100 0613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064508"/>
            <a:ext cx="100584" cy="2171700"/>
          </a:xfrm>
          <a:prstGeom prst="rect">
            <a:avLst/>
          </a:prstGeom>
          <a:solidFill>
            <a:srgbClr val="E9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E9722B"/>
                </a:solidFill>
                <a:latin typeface="Arial"/>
              </a:rPr>
              <a:t>Course 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064508"/>
            <a:ext cx="5358384" cy="21717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064508"/>
            <a:ext cx="100584" cy="217170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229100"/>
            <a:ext cx="494690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6E56CF"/>
                </a:solidFill>
                <a:latin typeface="Arial"/>
              </a:rPr>
              <a:t>Arduino reference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704588"/>
            <a:ext cx="4946904" cy="13944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131A22"/>
                </a:solidFill>
                <a:latin typeface="Arial"/>
              </a:rPr>
              <a:t>https://docs.arduino.cc/language-reference/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Arduino Masterclass  |  C218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601968"/>
            <a:ext cx="35661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19" b="0">
                <a:solidFill>
                  <a:srgbClr val="FFFFFF"/>
                </a:solidFill>
                <a:latin typeface="Arial"/>
              </a:rPr>
              <a:t>Tertiary Infotech Academy Pte Ltd  |  UEN 201200696W</a:t>
            </a:r>
          </a:p>
        </p:txBody>
      </p:sp>
      <p:sp>
        <p:nvSpPr>
          <p:cNvPr id="25" name="Oval 24"/>
          <p:cNvSpPr/>
          <p:nvPr/>
        </p:nvSpPr>
        <p:spPr>
          <a:xfrm>
            <a:off x="11475720" y="6574536"/>
            <a:ext cx="237744" cy="237744"/>
          </a:xfrm>
          <a:prstGeom prst="ellipse">
            <a:avLst/>
          </a:prstGeom>
          <a:solidFill>
            <a:srgbClr val="00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6583680"/>
            <a:ext cx="237744" cy="2103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105</a:t>
            </a:r>
          </a:p>
        </p:txBody>
      </p:sp>
    </p:spTree>
  </p:cSld>
  <p:transition spd="fast">
    <p:fade/>
  </p:transition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2412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7DE7D2"/>
                </a:solidFill>
                <a:latin typeface="Arial"/>
              </a:rPr>
              <a:t>SENSE  |  DECIDE  |  ACT  | 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4028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37560"/>
            <a:ext cx="923544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100" b="0">
                <a:solidFill>
                  <a:srgbClr val="FFFFFF"/>
                </a:solidFill>
                <a:latin typeface="Arial"/>
              </a:rPr>
              <a:t>A working prototype is a claim.
A measured, repeatable acceptance test is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806440"/>
            <a:ext cx="9784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B9C7D0"/>
                </a:solidFill>
                <a:latin typeface="Arial"/>
              </a:rPr>
              <a:t>Arduino Masterclass  |  C218  |  Version 1.0</a:t>
            </a:r>
          </a:p>
        </p:txBody>
      </p:sp>
    </p:spTree>
  </p:cSld>
  <p:transition spd="med">
    <p:push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